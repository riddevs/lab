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3.png" ContentType="image/png"/>
  <Override PartName="/ppt/media/image10.svg" ContentType="image/svg"/>
  <Override PartName="/ppt/media/image18.png" ContentType="image/png"/>
  <Override PartName="/ppt/media/image20.png" ContentType="image/png"/>
  <Override PartName="/ppt/media/image12.svg" ContentType="image/svg"/>
  <Override PartName="/ppt/media/image3.svg" ContentType="image/svg"/>
  <Override PartName="/ppt/media/image17.svg" ContentType="image/svg"/>
  <Override PartName="/ppt/media/image2.png" ContentType="image/png"/>
  <Override PartName="/ppt/media/image22.png" ContentType="image/png"/>
  <Override PartName="/ppt/media/image4.png" ContentType="image/png"/>
  <Override PartName="/ppt/media/image14.png" ContentType="image/png"/>
  <Override PartName="/ppt/media/image21.svg" ContentType="image/svg"/>
  <Override PartName="/ppt/media/image19.svg" ContentType="image/svg"/>
  <Override PartName="/ppt/media/image9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svg" ContentType="image/svg"/>
  <Override PartName="/ppt/media/image11.png" ContentType="image/png"/>
  <Override PartName="/ppt/media/image16.png" ContentType="image/png"/>
  <Override PartName="/ppt/media/image8.svg" ContentType="image/svg"/>
  <Override PartName="/ppt/media/image23.svg" ContentType="image/svg"/>
  <Override PartName="/ppt/media/image7.png" ContentType="image/png"/>
  <Override PartName="/ppt/fonts/Font_5_Calibri_(MS)_Regular.fntdata" ContentType="application/x-fontdata"/>
  <Override PartName="/ppt/fonts/Font_2_Noto_Sans_Bold.fntdata" ContentType="application/x-fontdata"/>
  <Override PartName="/ppt/fonts/Font_4_Noto_Sans_BoldItalic.fntdata" ContentType="application/x-fontdata"/>
  <Override PartName="/ppt/fonts/Font_1_Noto_Sans_Regular.fntdata" ContentType="application/x-fontdata"/>
  <Override PartName="/ppt/fonts/Font_6_Calibri_(MS)_Bold.fntdata" ContentType="application/x-fontdata"/>
  <Override PartName="/ppt/fonts/Font_3_Noto_Sans_Italic.fntdata" ContentType="application/x-fontdata"/>
  <Override PartName="/ppt/fonts/Font_7_Noto_Sans_CJK_SC_Regular.fntdata" ContentType="application/x-fontdata"/>
  <Override PartName="/ppt/fonts/Font_8_Noto_Sans_CJK_SC_Bold.fntdata" ContentType="application/x-fontdata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Noto Sans"/>
      <p:regular r:id="rId9"/>
      <p:bold r:id="rId10"/>
      <p:italic r:id="rId11"/>
      <p:boldItalic r:id="rId12"/>
    </p:embeddedFont>
    <p:embeddedFont>
      <p:font typeface="+mn-lt"/>
    </p:embeddedFont>
    <p:embeddedFont>
      <p:font typeface="Calibri (MS) Bold"/>
    </p:embeddedFont>
    <p:embeddedFont>
      <p:font typeface="Calibri (MS)"/>
      <p:regular r:id="rId13"/>
      <p:bold r:id="rId14"/>
      <p:italic r:id="rId14"/>
    </p:embeddedFont>
    <p:embeddedFont>
      <p:font typeface="+mn-ea"/>
    </p:embeddedFont>
    <p:embeddedFont>
      <p:font typeface="Noto Sans CJK SC"/>
      <p:regular r:id="rId15"/>
      <p:bold r:id="rId16"/>
      <p:italic r:id="rId16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font" Target="fonts/Font_1_Noto_Sans_Regular.fntdata"/><Relationship Id="rId10" Type="http://schemas.openxmlformats.org/officeDocument/2006/relationships/font" Target="fonts/Font_2_Noto_Sans_Bold.fntdata"/><Relationship Id="rId11" Type="http://schemas.openxmlformats.org/officeDocument/2006/relationships/font" Target="fonts/Font_3_Noto_Sans_Italic.fntdata"/><Relationship Id="rId12" Type="http://schemas.openxmlformats.org/officeDocument/2006/relationships/font" Target="fonts/Font_4_Noto_Sans_BoldItalic.fntdata"/><Relationship Id="rId13" Type="http://schemas.openxmlformats.org/officeDocument/2006/relationships/font" Target="fonts/Font_5_Calibri_(MS)_Regular.fntdata"/><Relationship Id="rId14" Type="http://schemas.openxmlformats.org/officeDocument/2006/relationships/font" Target="fonts/Font_6_Calibri_(MS)_Bold.fntdata"/><Relationship Id="rId15" Type="http://schemas.openxmlformats.org/officeDocument/2006/relationships/font" Target="fonts/Font_7_Noto_Sans_CJK_SC_Regular.fntdata"/><Relationship Id="rId16" Type="http://schemas.openxmlformats.org/officeDocument/2006/relationships/font" Target="fonts/Font_8_Noto_Sans_CJK_SC_Bold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CA21592-FDC9-4838-B818-49D07D44EE5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1.7.2013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A8054-95F0-440D-AEA8-262B2E4514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873C43-7F0F-455B-8C28-B9D3DB3F50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ABDC8D-14CA-4BBD-8263-FFC08F20D75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244B0-D363-47DD-B583-5427FA845B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4A161B-38BF-46CB-BB31-FBB23AE6D2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0582B8-D679-49ED-8890-F95E401326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C540A-3C2C-4981-B6BF-64BD990D74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F682F1-D5C8-46F5-B25E-895EBC6218D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7EE01B-4BF8-431C-B01E-4B17155D74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8F9823-5E48-414E-9110-FA54BA0409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CCE37-B424-4B07-A37D-062621D2F5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hyperlink" Target="https://www.loksamadhan.online" TargetMode="External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hyperlink" Target="https://mymemory.translated.net" TargetMode="External"/><Relationship Id="rId7" Type="http://schemas.openxmlformats.org/officeDocument/2006/relationships/hyperlink" Target="https://cloud.google.com/translate" TargetMode="External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16.png"/><Relationship Id="rId15" Type="http://schemas.openxmlformats.org/officeDocument/2006/relationships/image" Target="../media/image17.svg"/><Relationship Id="rId16" Type="http://schemas.openxmlformats.org/officeDocument/2006/relationships/slideLayout" Target="../slideLayouts/slideLayout9.xml"/><Relationship Id="rId1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3"/>
          <p:cNvGrpSpPr/>
          <p:nvPr/>
        </p:nvGrpSpPr>
        <p:grpSpPr>
          <a:xfrm>
            <a:off x="2210400" y="4341600"/>
            <a:ext cx="12088800" cy="4251960"/>
            <a:chOff x="2210400" y="4341600"/>
            <a:chExt cx="12088800" cy="4251960"/>
          </a:xfrm>
        </p:grpSpPr>
        <p:sp>
          <p:nvSpPr>
            <p:cNvPr id="69" name="Freeform 4"/>
            <p:cNvSpPr/>
            <p:nvPr/>
          </p:nvSpPr>
          <p:spPr>
            <a:xfrm>
              <a:off x="2210400" y="4341600"/>
              <a:ext cx="12088800" cy="4251960"/>
            </a:xfrm>
            <a:custGeom>
              <a:avLst/>
              <a:gdLst>
                <a:gd name="textAreaLeft" fmla="*/ 0 w 12088800"/>
                <a:gd name="textAreaRight" fmla="*/ 12089160 w 12088800"/>
                <a:gd name="textAreaTop" fmla="*/ 0 h 4251960"/>
                <a:gd name="textAreaBottom" fmla="*/ 4252320 h 4251960"/>
              </a:gdLst>
              <a:ahLst/>
              <a:cxnLst/>
              <a:rect l="textAreaLeft" t="textAreaTop" r="textAreaRight" b="textAreaBottom"/>
              <a:pathLst>
                <a:path w="16118714" h="5669915">
                  <a:moveTo>
                    <a:pt x="0" y="391033"/>
                  </a:moveTo>
                  <a:cubicBezTo>
                    <a:pt x="0" y="175133"/>
                    <a:pt x="175133" y="0"/>
                    <a:pt x="391033" y="0"/>
                  </a:cubicBezTo>
                  <a:lnTo>
                    <a:pt x="15727680" y="0"/>
                  </a:lnTo>
                  <a:cubicBezTo>
                    <a:pt x="15943707" y="0"/>
                    <a:pt x="16118714" y="175133"/>
                    <a:pt x="16118714" y="391033"/>
                  </a:cubicBezTo>
                  <a:lnTo>
                    <a:pt x="16118714" y="5278882"/>
                  </a:lnTo>
                  <a:cubicBezTo>
                    <a:pt x="16118714" y="5494909"/>
                    <a:pt x="15943580" y="5669915"/>
                    <a:pt x="15727680" y="5669915"/>
                  </a:cubicBezTo>
                  <a:lnTo>
                    <a:pt x="391033" y="5669915"/>
                  </a:lnTo>
                  <a:cubicBezTo>
                    <a:pt x="175133" y="5669915"/>
                    <a:pt x="0" y="5494782"/>
                    <a:pt x="0" y="5278882"/>
                  </a:cubicBezTo>
                  <a:close/>
                </a:path>
              </a:pathLst>
            </a:custGeom>
            <a:solidFill>
              <a:srgbClr val="e3aa2d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5"/>
          <p:cNvSpPr/>
          <p:nvPr/>
        </p:nvSpPr>
        <p:spPr>
          <a:xfrm>
            <a:off x="2315880" y="1366920"/>
            <a:ext cx="1396152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181"/>
              </a:lnSpc>
            </a:pPr>
            <a:r>
              <a:rPr b="1" lang="en-US" sz="765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Public Issue Resolution Tracker</a:t>
            </a:r>
            <a:endParaRPr b="0" lang="en-US" sz="7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2412000" y="3591360"/>
            <a:ext cx="126756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3040" strike="noStrike" u="none">
                <a:solidFill>
                  <a:srgbClr val="287c7b"/>
                </a:solidFill>
                <a:effectLst/>
                <a:uFillTx/>
                <a:latin typeface="Calibri (MS) Bold"/>
                <a:ea typeface="Calibri (MS) Bold"/>
              </a:rPr>
              <a:t>Report a civic issue, watch it get fixed in public.</a:t>
            </a:r>
            <a:endParaRPr b="0" lang="en-US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2694240" y="4567680"/>
            <a:ext cx="10016280" cy="37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TEAM NAME: TINKERERS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TEAM ID: TH22-0072-04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TEAM MEMBERS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                                  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PS ID: WEB03-  Public Issue Resolution Tracker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5072400" y="6242400"/>
            <a:ext cx="388368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66920" indent="-233280" defTabSz="914400">
              <a:lnSpc>
                <a:spcPts val="2594"/>
              </a:lnSpc>
              <a:buClr>
                <a:srgbClr val="275417"/>
              </a:buClr>
              <a:buFont typeface="Arial"/>
              <a:buChar char="•"/>
            </a:pPr>
            <a:r>
              <a:rPr b="1" lang="en-US" sz="216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Kaushik Ranjan Rajkumar 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66920" indent="-233280" defTabSz="914400">
              <a:lnSpc>
                <a:spcPts val="2594"/>
              </a:lnSpc>
              <a:buClr>
                <a:srgbClr val="275417"/>
              </a:buClr>
              <a:buFont typeface="Arial"/>
              <a:buChar char="•"/>
            </a:pPr>
            <a:r>
              <a:rPr b="1" lang="en-US" sz="216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Mriganka Mahanta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66920" indent="-233280" defTabSz="914400">
              <a:lnSpc>
                <a:spcPts val="2594"/>
              </a:lnSpc>
              <a:buClr>
                <a:srgbClr val="275417"/>
              </a:buClr>
              <a:buFont typeface="Arial"/>
              <a:buChar char="•"/>
            </a:pPr>
            <a:r>
              <a:rPr b="1" lang="en-US" sz="216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Rittam Dutta 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66920" indent="-233280" defTabSz="914400">
              <a:lnSpc>
                <a:spcPts val="2594"/>
              </a:lnSpc>
              <a:buClr>
                <a:srgbClr val="275417"/>
              </a:buClr>
              <a:buFont typeface="Arial"/>
              <a:buChar char="•"/>
            </a:pPr>
            <a:r>
              <a:rPr b="1" lang="en-US" sz="2160" strike="noStrike" u="none">
                <a:solidFill>
                  <a:srgbClr val="275417"/>
                </a:solidFill>
                <a:effectLst/>
                <a:uFillTx/>
                <a:latin typeface="Calibri (MS) Bold"/>
                <a:ea typeface="Calibri (MS) Bold"/>
              </a:rPr>
              <a:t>Nidarshana Kafley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3"/>
          <p:cNvGrpSpPr/>
          <p:nvPr/>
        </p:nvGrpSpPr>
        <p:grpSpPr>
          <a:xfrm>
            <a:off x="1071720" y="2557440"/>
            <a:ext cx="7457760" cy="5886000"/>
            <a:chOff x="1071720" y="2557440"/>
            <a:chExt cx="7457760" cy="5886000"/>
          </a:xfrm>
        </p:grpSpPr>
        <p:sp>
          <p:nvSpPr>
            <p:cNvPr id="76" name="Freeform 4"/>
            <p:cNvSpPr/>
            <p:nvPr/>
          </p:nvSpPr>
          <p:spPr>
            <a:xfrm>
              <a:off x="1071720" y="2557440"/>
              <a:ext cx="7457760" cy="5886000"/>
            </a:xfrm>
            <a:custGeom>
              <a:avLst/>
              <a:gdLst>
                <a:gd name="textAreaLeft" fmla="*/ 0 w 7457760"/>
                <a:gd name="textAreaRight" fmla="*/ 7458120 w 7457760"/>
                <a:gd name="textAreaTop" fmla="*/ 0 h 5886000"/>
                <a:gd name="textAreaBottom" fmla="*/ 5886360 h 5886000"/>
              </a:gdLst>
              <a:ahLst/>
              <a:cxnLst/>
              <a:rect l="textAreaLeft" t="textAreaTop" r="textAreaRight" b="textAreaBottom"/>
              <a:pathLst>
                <a:path w="9944100" h="78486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9790938" y="0"/>
                  </a:lnTo>
                  <a:cubicBezTo>
                    <a:pt x="9875520" y="0"/>
                    <a:pt x="9944100" y="68580"/>
                    <a:pt x="9944100" y="153162"/>
                  </a:cubicBezTo>
                  <a:lnTo>
                    <a:pt x="9944100" y="7695438"/>
                  </a:lnTo>
                  <a:cubicBezTo>
                    <a:pt x="9944100" y="7780020"/>
                    <a:pt x="9875520" y="7848600"/>
                    <a:pt x="9790938" y="7848600"/>
                  </a:cubicBezTo>
                  <a:lnTo>
                    <a:pt x="153162" y="7848600"/>
                  </a:lnTo>
                  <a:cubicBezTo>
                    <a:pt x="68580" y="7848600"/>
                    <a:pt x="0" y="7780020"/>
                    <a:pt x="0" y="7695438"/>
                  </a:cubicBezTo>
                  <a:close/>
                </a:path>
              </a:pathLst>
            </a:custGeom>
            <a:solidFill>
              <a:srgbClr val="f2ecdf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Group 5"/>
          <p:cNvGrpSpPr/>
          <p:nvPr/>
        </p:nvGrpSpPr>
        <p:grpSpPr>
          <a:xfrm>
            <a:off x="1600200" y="4186080"/>
            <a:ext cx="242640" cy="242640"/>
            <a:chOff x="1600200" y="4186080"/>
            <a:chExt cx="242640" cy="242640"/>
          </a:xfrm>
        </p:grpSpPr>
        <p:sp>
          <p:nvSpPr>
            <p:cNvPr id="78" name="Freeform 6"/>
            <p:cNvSpPr/>
            <p:nvPr/>
          </p:nvSpPr>
          <p:spPr>
            <a:xfrm>
              <a:off x="1600200" y="418608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287c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" name="Group 7"/>
          <p:cNvGrpSpPr/>
          <p:nvPr/>
        </p:nvGrpSpPr>
        <p:grpSpPr>
          <a:xfrm>
            <a:off x="1600200" y="5540040"/>
            <a:ext cx="242640" cy="242640"/>
            <a:chOff x="1600200" y="5540040"/>
            <a:chExt cx="242640" cy="242640"/>
          </a:xfrm>
        </p:grpSpPr>
        <p:sp>
          <p:nvSpPr>
            <p:cNvPr id="80" name="Freeform 8"/>
            <p:cNvSpPr/>
            <p:nvPr/>
          </p:nvSpPr>
          <p:spPr>
            <a:xfrm>
              <a:off x="1600200" y="554004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287c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9"/>
          <p:cNvGrpSpPr/>
          <p:nvPr/>
        </p:nvGrpSpPr>
        <p:grpSpPr>
          <a:xfrm>
            <a:off x="1600200" y="6893640"/>
            <a:ext cx="242640" cy="242640"/>
            <a:chOff x="1600200" y="6893640"/>
            <a:chExt cx="242640" cy="242640"/>
          </a:xfrm>
        </p:grpSpPr>
        <p:sp>
          <p:nvSpPr>
            <p:cNvPr id="82" name="Freeform 10"/>
            <p:cNvSpPr/>
            <p:nvPr/>
          </p:nvSpPr>
          <p:spPr>
            <a:xfrm>
              <a:off x="1600200" y="689364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287c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11"/>
          <p:cNvGrpSpPr/>
          <p:nvPr/>
        </p:nvGrpSpPr>
        <p:grpSpPr>
          <a:xfrm>
            <a:off x="9329760" y="2557440"/>
            <a:ext cx="7686360" cy="5886000"/>
            <a:chOff x="9329760" y="2557440"/>
            <a:chExt cx="7686360" cy="5886000"/>
          </a:xfrm>
        </p:grpSpPr>
        <p:sp>
          <p:nvSpPr>
            <p:cNvPr id="84" name="Freeform 12"/>
            <p:cNvSpPr/>
            <p:nvPr/>
          </p:nvSpPr>
          <p:spPr>
            <a:xfrm>
              <a:off x="9329760" y="2557440"/>
              <a:ext cx="7686360" cy="5886000"/>
            </a:xfrm>
            <a:custGeom>
              <a:avLst/>
              <a:gdLst>
                <a:gd name="textAreaLeft" fmla="*/ 0 w 7686360"/>
                <a:gd name="textAreaRight" fmla="*/ 7686720 w 7686360"/>
                <a:gd name="textAreaTop" fmla="*/ 0 h 5886000"/>
                <a:gd name="textAreaBottom" fmla="*/ 5886360 h 5886000"/>
              </a:gdLst>
              <a:ahLst/>
              <a:cxnLst/>
              <a:rect l="textAreaLeft" t="textAreaTop" r="textAreaRight" b="textAreaBottom"/>
              <a:pathLst>
                <a:path w="10248900" h="7848600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10095738" y="0"/>
                  </a:lnTo>
                  <a:cubicBezTo>
                    <a:pt x="10180320" y="0"/>
                    <a:pt x="10248900" y="68580"/>
                    <a:pt x="10248900" y="153162"/>
                  </a:cubicBezTo>
                  <a:lnTo>
                    <a:pt x="10248900" y="7695438"/>
                  </a:lnTo>
                  <a:cubicBezTo>
                    <a:pt x="10248900" y="7780020"/>
                    <a:pt x="10180320" y="7848600"/>
                    <a:pt x="10095738" y="7848600"/>
                  </a:cubicBezTo>
                  <a:lnTo>
                    <a:pt x="153162" y="7848600"/>
                  </a:lnTo>
                  <a:cubicBezTo>
                    <a:pt x="68580" y="7848600"/>
                    <a:pt x="0" y="7780020"/>
                    <a:pt x="0" y="7695438"/>
                  </a:cubicBezTo>
                  <a:close/>
                </a:path>
              </a:pathLst>
            </a:custGeom>
            <a:solidFill>
              <a:srgbClr val="b9cec3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" name="Group 13"/>
          <p:cNvGrpSpPr/>
          <p:nvPr/>
        </p:nvGrpSpPr>
        <p:grpSpPr>
          <a:xfrm>
            <a:off x="9887040" y="4010400"/>
            <a:ext cx="242640" cy="242640"/>
            <a:chOff x="9887040" y="4010400"/>
            <a:chExt cx="242640" cy="242640"/>
          </a:xfrm>
        </p:grpSpPr>
        <p:sp>
          <p:nvSpPr>
            <p:cNvPr id="86" name="Freeform 14"/>
            <p:cNvSpPr/>
            <p:nvPr/>
          </p:nvSpPr>
          <p:spPr>
            <a:xfrm>
              <a:off x="9887040" y="401040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e3a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15"/>
          <p:cNvGrpSpPr/>
          <p:nvPr/>
        </p:nvGrpSpPr>
        <p:grpSpPr>
          <a:xfrm>
            <a:off x="9887040" y="5326920"/>
            <a:ext cx="242640" cy="242640"/>
            <a:chOff x="9887040" y="5326920"/>
            <a:chExt cx="242640" cy="242640"/>
          </a:xfrm>
        </p:grpSpPr>
        <p:sp>
          <p:nvSpPr>
            <p:cNvPr id="88" name="Freeform 16"/>
            <p:cNvSpPr/>
            <p:nvPr/>
          </p:nvSpPr>
          <p:spPr>
            <a:xfrm>
              <a:off x="9887040" y="532692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e3a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Freeform 17"/>
          <p:cNvSpPr/>
          <p:nvPr/>
        </p:nvSpPr>
        <p:spPr>
          <a:xfrm>
            <a:off x="2557440" y="430776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  <a:alphaModFix amt="2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reeform 18"/>
          <p:cNvSpPr/>
          <p:nvPr/>
        </p:nvSpPr>
        <p:spPr>
          <a:xfrm>
            <a:off x="14552640" y="6482160"/>
            <a:ext cx="1614600" cy="1625760"/>
          </a:xfrm>
          <a:custGeom>
            <a:avLst/>
            <a:gdLst>
              <a:gd name="textAreaLeft" fmla="*/ 0 w 1614600"/>
              <a:gd name="textAreaRight" fmla="*/ 1614960 w 1614600"/>
              <a:gd name="textAreaTop" fmla="*/ 0 h 1625760"/>
              <a:gd name="textAreaBottom" fmla="*/ 1626120 h 1625760"/>
            </a:gdLst>
            <a:ahLst/>
            <a:cxnLst/>
            <a:rect l="textAreaLeft" t="textAreaTop" r="textAreaRight" b="textAreaBottom"/>
            <a:pathLst>
              <a:path w="1615107" h="1625946">
                <a:moveTo>
                  <a:pt x="0" y="0"/>
                </a:moveTo>
                <a:lnTo>
                  <a:pt x="1615107" y="0"/>
                </a:lnTo>
                <a:lnTo>
                  <a:pt x="1615107" y="1625947"/>
                </a:lnTo>
                <a:lnTo>
                  <a:pt x="0" y="16259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  <a:alphaModFix amt="2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2163240" y="1093320"/>
            <a:ext cx="149616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b="1" lang="en-US" sz="450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The problem affects real people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0"/>
          <p:cNvSpPr/>
          <p:nvPr/>
        </p:nvSpPr>
        <p:spPr>
          <a:xfrm>
            <a:off x="15950520" y="9589680"/>
            <a:ext cx="14169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621"/>
              </a:lnSpc>
            </a:pPr>
            <a:r>
              <a:rPr b="1" lang="en-US" sz="1350" strike="noStrike" u="none">
                <a:solidFill>
                  <a:srgbClr val="287c7b"/>
                </a:solidFill>
                <a:effectLst/>
                <a:uFillTx/>
                <a:latin typeface="Calibri (MS) Bold"/>
                <a:ea typeface="Calibri (MS) Bold"/>
              </a:rPr>
              <a:t>2 / 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1"/>
          <p:cNvSpPr/>
          <p:nvPr/>
        </p:nvSpPr>
        <p:spPr>
          <a:xfrm>
            <a:off x="1634400" y="3036600"/>
            <a:ext cx="596052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b="1" lang="en-US" sz="293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WHO FACES IT?</a:t>
            </a:r>
            <a:endParaRPr b="0" lang="en-US" sz="2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2"/>
          <p:cNvSpPr/>
          <p:nvPr/>
        </p:nvSpPr>
        <p:spPr>
          <a:xfrm>
            <a:off x="2163240" y="4084200"/>
            <a:ext cx="540324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73"/>
              </a:lnSpc>
            </a:pPr>
            <a:r>
              <a:rPr b="1" lang="en-US" sz="256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Primary user group:</a:t>
            </a:r>
            <a:r>
              <a:rPr b="0" lang="en-US" sz="256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 Daily commuters, local residents, and municipal field officers</a:t>
            </a:r>
            <a:endParaRPr b="0" lang="en-US" sz="2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3"/>
          <p:cNvSpPr/>
          <p:nvPr/>
        </p:nvSpPr>
        <p:spPr>
          <a:xfrm>
            <a:off x="2163240" y="5401080"/>
            <a:ext cx="540324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73"/>
              </a:lnSpc>
            </a:pPr>
            <a:r>
              <a:rPr b="0" lang="en-US" sz="256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The problem occurs in connecting public complaints to authorities when civic amenities fail</a:t>
            </a:r>
            <a:endParaRPr b="0" lang="en-US" sz="2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4"/>
          <p:cNvSpPr/>
          <p:nvPr/>
        </p:nvSpPr>
        <p:spPr>
          <a:xfrm>
            <a:off x="2163240" y="6717600"/>
            <a:ext cx="5403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73"/>
              </a:lnSpc>
            </a:pPr>
            <a:r>
              <a:rPr b="0" lang="en-US" sz="256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eg: Guwahati's recurring waterlogging and drainage failure</a:t>
            </a:r>
            <a:endParaRPr b="0" lang="en-US" sz="2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5"/>
          <p:cNvSpPr/>
          <p:nvPr/>
        </p:nvSpPr>
        <p:spPr>
          <a:xfrm>
            <a:off x="9921240" y="3036600"/>
            <a:ext cx="624600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b="1" lang="en-US" sz="293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WHY DOES IT MATTER?</a:t>
            </a:r>
            <a:endParaRPr b="0" lang="en-US" sz="2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6"/>
          <p:cNvSpPr/>
          <p:nvPr/>
        </p:nvSpPr>
        <p:spPr>
          <a:xfrm>
            <a:off x="10453680" y="3877920"/>
            <a:ext cx="563184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4"/>
              </a:lnSpc>
            </a:pPr>
            <a:r>
              <a:rPr b="0" lang="en-US" sz="246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Complaints pile up with no visibility into who is handling them or what stage they are at</a:t>
            </a:r>
            <a:endParaRPr b="0" lang="en-US" sz="24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54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54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7"/>
          <p:cNvSpPr/>
          <p:nvPr/>
        </p:nvSpPr>
        <p:spPr>
          <a:xfrm>
            <a:off x="10453680" y="5177880"/>
            <a:ext cx="56318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4"/>
              </a:lnSpc>
            </a:pPr>
            <a:r>
              <a:rPr b="0" lang="en-US" sz="246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Cost, delay or risk caused:Duplicate issues wastes time and genuine issues get delayed.</a:t>
            </a:r>
            <a:endParaRPr b="0" lang="en-US" sz="24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8"/>
          <p:cNvSpPr/>
          <p:nvPr/>
        </p:nvSpPr>
        <p:spPr>
          <a:xfrm>
            <a:off x="10129680" y="6599880"/>
            <a:ext cx="408888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45"/>
              </a:lnSpc>
            </a:pPr>
            <a:r>
              <a:rPr b="1" lang="en-US" sz="279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Our project groups duplicate complaints, track progress, and verify fixes</a:t>
            </a:r>
            <a:endParaRPr b="0" lang="en-US" sz="2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roup 3"/>
          <p:cNvGrpSpPr/>
          <p:nvPr/>
        </p:nvGrpSpPr>
        <p:grpSpPr>
          <a:xfrm>
            <a:off x="9988200" y="2557440"/>
            <a:ext cx="6928920" cy="5703120"/>
            <a:chOff x="9988200" y="2557440"/>
            <a:chExt cx="6928920" cy="5703120"/>
          </a:xfrm>
        </p:grpSpPr>
        <p:sp>
          <p:nvSpPr>
            <p:cNvPr id="103" name="Freeform 4"/>
            <p:cNvSpPr/>
            <p:nvPr/>
          </p:nvSpPr>
          <p:spPr>
            <a:xfrm>
              <a:off x="9988200" y="2557440"/>
              <a:ext cx="6928920" cy="5703120"/>
            </a:xfrm>
            <a:custGeom>
              <a:avLst/>
              <a:gdLst>
                <a:gd name="textAreaLeft" fmla="*/ 0 w 6928920"/>
                <a:gd name="textAreaRight" fmla="*/ 6929280 w 6928920"/>
                <a:gd name="textAreaTop" fmla="*/ 0 h 5703120"/>
                <a:gd name="textAreaBottom" fmla="*/ 5703480 h 5703120"/>
              </a:gdLst>
              <a:ahLst/>
              <a:cxnLst/>
              <a:rect l="textAreaLeft" t="textAreaTop" r="textAreaRight" b="textAreaBottom"/>
              <a:pathLst>
                <a:path w="9239250" h="7604467">
                  <a:moveTo>
                    <a:pt x="0" y="173874"/>
                  </a:moveTo>
                  <a:cubicBezTo>
                    <a:pt x="0" y="77860"/>
                    <a:pt x="73533" y="0"/>
                    <a:pt x="164211" y="0"/>
                  </a:cubicBezTo>
                  <a:lnTo>
                    <a:pt x="9075039" y="0"/>
                  </a:lnTo>
                  <a:cubicBezTo>
                    <a:pt x="9165717" y="0"/>
                    <a:pt x="9239250" y="77860"/>
                    <a:pt x="9239250" y="173874"/>
                  </a:cubicBezTo>
                  <a:lnTo>
                    <a:pt x="9239250" y="7430593"/>
                  </a:lnTo>
                  <a:cubicBezTo>
                    <a:pt x="9239250" y="7526607"/>
                    <a:pt x="9165717" y="7604467"/>
                    <a:pt x="9075039" y="7604467"/>
                  </a:cubicBezTo>
                  <a:lnTo>
                    <a:pt x="164211" y="7604467"/>
                  </a:lnTo>
                  <a:cubicBezTo>
                    <a:pt x="73533" y="7604467"/>
                    <a:pt x="0" y="7526607"/>
                    <a:pt x="0" y="7430593"/>
                  </a:cubicBezTo>
                  <a:close/>
                </a:path>
              </a:pathLst>
            </a:custGeom>
            <a:solidFill>
              <a:srgbClr val="fffdf7"/>
            </a:solidFill>
            <a:ln cap="sq" w="28575">
              <a:solidFill>
                <a:srgbClr val="287c7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" name="Group 5"/>
          <p:cNvGrpSpPr/>
          <p:nvPr/>
        </p:nvGrpSpPr>
        <p:grpSpPr>
          <a:xfrm>
            <a:off x="1014480" y="2557440"/>
            <a:ext cx="8367120" cy="5703120"/>
            <a:chOff x="1014480" y="2557440"/>
            <a:chExt cx="8367120" cy="5703120"/>
          </a:xfrm>
        </p:grpSpPr>
        <p:sp>
          <p:nvSpPr>
            <p:cNvPr id="105" name="Freeform 6"/>
            <p:cNvSpPr/>
            <p:nvPr/>
          </p:nvSpPr>
          <p:spPr>
            <a:xfrm>
              <a:off x="1014480" y="2557440"/>
              <a:ext cx="8367120" cy="5703120"/>
            </a:xfrm>
            <a:custGeom>
              <a:avLst/>
              <a:gdLst>
                <a:gd name="textAreaLeft" fmla="*/ 0 w 8367120"/>
                <a:gd name="textAreaRight" fmla="*/ 8367480 w 8367120"/>
                <a:gd name="textAreaTop" fmla="*/ 0 h 5703120"/>
                <a:gd name="textAreaBottom" fmla="*/ 5703480 h 5703120"/>
              </a:gdLst>
              <a:ahLst/>
              <a:cxnLst/>
              <a:rect l="textAreaLeft" t="textAreaTop" r="textAreaRight" b="textAreaBottom"/>
              <a:pathLst>
                <a:path w="11156823" h="7604467">
                  <a:moveTo>
                    <a:pt x="0" y="368726"/>
                  </a:moveTo>
                  <a:cubicBezTo>
                    <a:pt x="0" y="164999"/>
                    <a:pt x="155829" y="0"/>
                    <a:pt x="348234" y="0"/>
                  </a:cubicBezTo>
                  <a:lnTo>
                    <a:pt x="10808589" y="0"/>
                  </a:lnTo>
                  <a:cubicBezTo>
                    <a:pt x="11000867" y="0"/>
                    <a:pt x="11156823" y="164999"/>
                    <a:pt x="11156823" y="368726"/>
                  </a:cubicBezTo>
                  <a:lnTo>
                    <a:pt x="11156823" y="7235741"/>
                  </a:lnTo>
                  <a:cubicBezTo>
                    <a:pt x="11156823" y="7439334"/>
                    <a:pt x="11000994" y="7604467"/>
                    <a:pt x="10808589" y="7604467"/>
                  </a:cubicBezTo>
                  <a:lnTo>
                    <a:pt x="348234" y="7604467"/>
                  </a:lnTo>
                  <a:cubicBezTo>
                    <a:pt x="155829" y="7604467"/>
                    <a:pt x="0" y="7439468"/>
                    <a:pt x="0" y="7235741"/>
                  </a:cubicBezTo>
                  <a:close/>
                </a:path>
              </a:pathLst>
            </a:custGeom>
            <a:solidFill>
              <a:srgbClr val="b9cec3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" name="Group 7"/>
          <p:cNvGrpSpPr/>
          <p:nvPr/>
        </p:nvGrpSpPr>
        <p:grpSpPr>
          <a:xfrm>
            <a:off x="1767600" y="5852880"/>
            <a:ext cx="6218280" cy="1513440"/>
            <a:chOff x="1767600" y="5852880"/>
            <a:chExt cx="6218280" cy="1513440"/>
          </a:xfrm>
        </p:grpSpPr>
        <p:sp>
          <p:nvSpPr>
            <p:cNvPr id="107" name="Freeform 8"/>
            <p:cNvSpPr/>
            <p:nvPr/>
          </p:nvSpPr>
          <p:spPr>
            <a:xfrm>
              <a:off x="1767600" y="5852880"/>
              <a:ext cx="6218280" cy="1513440"/>
            </a:xfrm>
            <a:custGeom>
              <a:avLst/>
              <a:gdLst>
                <a:gd name="textAreaLeft" fmla="*/ 0 w 6218280"/>
                <a:gd name="textAreaRight" fmla="*/ 6218640 w 6218280"/>
                <a:gd name="textAreaTop" fmla="*/ 0 h 1513440"/>
                <a:gd name="textAreaBottom" fmla="*/ 1513800 h 1513440"/>
              </a:gdLst>
              <a:ahLst/>
              <a:cxnLst/>
              <a:rect l="textAreaLeft" t="textAreaTop" r="textAreaRight" b="textAreaBottom"/>
              <a:pathLst>
                <a:path w="812800" h="197864">
                  <a:moveTo>
                    <a:pt x="0" y="0"/>
                  </a:moveTo>
                  <a:lnTo>
                    <a:pt x="812800" y="0"/>
                  </a:lnTo>
                  <a:lnTo>
                    <a:pt x="812800" y="197864"/>
                  </a:lnTo>
                  <a:lnTo>
                    <a:pt x="0" y="197864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" name="Group 9"/>
          <p:cNvGrpSpPr/>
          <p:nvPr/>
        </p:nvGrpSpPr>
        <p:grpSpPr>
          <a:xfrm>
            <a:off x="10393560" y="3497400"/>
            <a:ext cx="403920" cy="464400"/>
            <a:chOff x="10393560" y="3497400"/>
            <a:chExt cx="403920" cy="464400"/>
          </a:xfrm>
        </p:grpSpPr>
        <p:sp>
          <p:nvSpPr>
            <p:cNvPr id="109" name="Freeform 10"/>
            <p:cNvSpPr/>
            <p:nvPr/>
          </p:nvSpPr>
          <p:spPr>
            <a:xfrm>
              <a:off x="10477800" y="3608640"/>
              <a:ext cx="235440" cy="30276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302760"/>
                <a:gd name="textAreaBottom" fmla="*/ 303120 h 302760"/>
              </a:gdLst>
              <a:ahLst/>
              <a:cxnLst/>
              <a:rect l="textAreaLeft" t="textAreaTop" r="textAreaRight" b="textAreaBottom"/>
              <a:pathLst>
                <a:path w="148167" h="190500">
                  <a:moveTo>
                    <a:pt x="21166" y="0"/>
                  </a:moveTo>
                  <a:lnTo>
                    <a:pt x="127000" y="0"/>
                  </a:lnTo>
                  <a:lnTo>
                    <a:pt x="127000" y="31750"/>
                  </a:lnTo>
                  <a:lnTo>
                    <a:pt x="21166" y="31750"/>
                  </a:lnTo>
                  <a:close/>
                  <a:moveTo>
                    <a:pt x="0" y="31750"/>
                  </a:moveTo>
                  <a:lnTo>
                    <a:pt x="148166" y="31750"/>
                  </a:lnTo>
                  <a:lnTo>
                    <a:pt x="148166" y="190500"/>
                  </a:lnTo>
                  <a:lnTo>
                    <a:pt x="0" y="190500"/>
                  </a:lnTo>
                  <a:close/>
                  <a:moveTo>
                    <a:pt x="42333" y="84667"/>
                  </a:moveTo>
                  <a:lnTo>
                    <a:pt x="105833" y="84667"/>
                  </a:lnTo>
                  <a:moveTo>
                    <a:pt x="42333" y="127000"/>
                  </a:moveTo>
                  <a:lnTo>
                    <a:pt x="105833" y="127000"/>
                  </a:lnTo>
                </a:path>
              </a:pathLst>
            </a:custGeom>
            <a:solidFill>
              <a:srgbClr val="efad1b"/>
            </a:solidFill>
            <a:ln cap="sq" w="1524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TextBox 11"/>
            <p:cNvSpPr/>
            <p:nvPr/>
          </p:nvSpPr>
          <p:spPr>
            <a:xfrm>
              <a:off x="10393560" y="3497400"/>
              <a:ext cx="40392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1678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10403280" y="4055040"/>
            <a:ext cx="412560" cy="474480"/>
            <a:chOff x="10403280" y="4055040"/>
            <a:chExt cx="412560" cy="474480"/>
          </a:xfrm>
        </p:grpSpPr>
        <p:sp>
          <p:nvSpPr>
            <p:cNvPr id="112" name="Freeform 13"/>
            <p:cNvSpPr/>
            <p:nvPr/>
          </p:nvSpPr>
          <p:spPr>
            <a:xfrm>
              <a:off x="10506600" y="4185720"/>
              <a:ext cx="206280" cy="275040"/>
            </a:xfrm>
            <a:custGeom>
              <a:avLst/>
              <a:gdLst>
                <a:gd name="textAreaLeft" fmla="*/ 0 w 206280"/>
                <a:gd name="textAreaRight" fmla="*/ 206640 w 206280"/>
                <a:gd name="textAreaTop" fmla="*/ 0 h 275040"/>
                <a:gd name="textAreaBottom" fmla="*/ 275400 h 275040"/>
              </a:gdLst>
              <a:ahLst/>
              <a:cxnLst/>
              <a:rect l="textAreaLeft" t="textAreaTop" r="textAreaRight" b="textAreaBottom"/>
              <a:pathLst>
                <a:path w="127000" h="169333">
                  <a:moveTo>
                    <a:pt x="0" y="74084"/>
                  </a:moveTo>
                  <a:lnTo>
                    <a:pt x="127000" y="74084"/>
                  </a:lnTo>
                  <a:lnTo>
                    <a:pt x="127000" y="169334"/>
                  </a:lnTo>
                  <a:lnTo>
                    <a:pt x="0" y="169334"/>
                  </a:lnTo>
                  <a:close/>
                  <a:moveTo>
                    <a:pt x="31750" y="74084"/>
                  </a:moveTo>
                  <a:lnTo>
                    <a:pt x="31750" y="31750"/>
                  </a:lnTo>
                  <a:cubicBezTo>
                    <a:pt x="31750" y="14215"/>
                    <a:pt x="45965" y="0"/>
                    <a:pt x="63500" y="0"/>
                  </a:cubicBezTo>
                  <a:cubicBezTo>
                    <a:pt x="81035" y="0"/>
                    <a:pt x="95250" y="14215"/>
                    <a:pt x="95250" y="31750"/>
                  </a:cubicBezTo>
                  <a:lnTo>
                    <a:pt x="95250" y="74084"/>
                  </a:lnTo>
                </a:path>
              </a:pathLst>
            </a:custGeom>
            <a:solidFill>
              <a:srgbClr val="efad1b"/>
            </a:solidFill>
            <a:ln cap="sq" w="1524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Box 14"/>
            <p:cNvSpPr/>
            <p:nvPr/>
          </p:nvSpPr>
          <p:spPr>
            <a:xfrm>
              <a:off x="10403280" y="4055040"/>
              <a:ext cx="412560" cy="47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1678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10393560" y="4595760"/>
            <a:ext cx="432000" cy="496800"/>
            <a:chOff x="10393560" y="4595760"/>
            <a:chExt cx="432000" cy="496800"/>
          </a:xfrm>
        </p:grpSpPr>
        <p:sp>
          <p:nvSpPr>
            <p:cNvPr id="115" name="Freeform 16"/>
            <p:cNvSpPr/>
            <p:nvPr/>
          </p:nvSpPr>
          <p:spPr>
            <a:xfrm>
              <a:off x="10501920" y="4714560"/>
              <a:ext cx="215640" cy="324000"/>
            </a:xfrm>
            <a:custGeom>
              <a:avLst/>
              <a:gdLst>
                <a:gd name="textAreaLeft" fmla="*/ 0 w 215640"/>
                <a:gd name="textAreaRight" fmla="*/ 216000 w 215640"/>
                <a:gd name="textAreaTop" fmla="*/ 0 h 324000"/>
                <a:gd name="textAreaBottom" fmla="*/ 324360 h 324000"/>
              </a:gdLst>
              <a:ahLst/>
              <a:cxnLst/>
              <a:rect l="textAreaLeft" t="textAreaTop" r="textAreaRight" b="textAreaBottom"/>
              <a:pathLst>
                <a:path w="127000" h="190500">
                  <a:moveTo>
                    <a:pt x="63500" y="0"/>
                  </a:moveTo>
                  <a:cubicBezTo>
                    <a:pt x="26458" y="0"/>
                    <a:pt x="0" y="26458"/>
                    <a:pt x="0" y="63500"/>
                  </a:cubicBezTo>
                  <a:cubicBezTo>
                    <a:pt x="0" y="111125"/>
                    <a:pt x="63500" y="190500"/>
                    <a:pt x="63500" y="190500"/>
                  </a:cubicBezTo>
                  <a:cubicBezTo>
                    <a:pt x="63500" y="190500"/>
                    <a:pt x="127000" y="111125"/>
                    <a:pt x="127000" y="63500"/>
                  </a:cubicBezTo>
                  <a:cubicBezTo>
                    <a:pt x="127000" y="26458"/>
                    <a:pt x="100542" y="0"/>
                    <a:pt x="63500" y="0"/>
                  </a:cubicBezTo>
                  <a:close/>
                  <a:moveTo>
                    <a:pt x="63500" y="89958"/>
                  </a:moveTo>
                  <a:cubicBezTo>
                    <a:pt x="78113" y="89958"/>
                    <a:pt x="89958" y="78113"/>
                    <a:pt x="89958" y="63500"/>
                  </a:cubicBezTo>
                  <a:cubicBezTo>
                    <a:pt x="89958" y="48887"/>
                    <a:pt x="78113" y="37042"/>
                    <a:pt x="63500" y="37042"/>
                  </a:cubicBezTo>
                  <a:cubicBezTo>
                    <a:pt x="48887" y="37042"/>
                    <a:pt x="37042" y="48887"/>
                    <a:pt x="37042" y="63500"/>
                  </a:cubicBezTo>
                  <a:cubicBezTo>
                    <a:pt x="37042" y="78113"/>
                    <a:pt x="48887" y="89958"/>
                    <a:pt x="63500" y="89958"/>
                  </a:cubicBezTo>
                  <a:close/>
                </a:path>
              </a:pathLst>
            </a:custGeom>
            <a:solidFill>
              <a:srgbClr val="efad1b"/>
            </a:solidFill>
            <a:ln cap="sq" w="1333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TextBox 17"/>
            <p:cNvSpPr/>
            <p:nvPr/>
          </p:nvSpPr>
          <p:spPr>
            <a:xfrm>
              <a:off x="10393560" y="4595760"/>
              <a:ext cx="432000" cy="49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1678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10397160" y="5609880"/>
            <a:ext cx="428400" cy="492840"/>
            <a:chOff x="10397160" y="5609880"/>
            <a:chExt cx="428400" cy="492840"/>
          </a:xfrm>
        </p:grpSpPr>
        <p:sp>
          <p:nvSpPr>
            <p:cNvPr id="118" name="Freeform 19"/>
            <p:cNvSpPr/>
            <p:nvPr/>
          </p:nvSpPr>
          <p:spPr>
            <a:xfrm>
              <a:off x="10468800" y="5745600"/>
              <a:ext cx="249840" cy="249840"/>
            </a:xfrm>
            <a:custGeom>
              <a:avLst/>
              <a:gdLst>
                <a:gd name="textAreaLeft" fmla="*/ 0 w 249840"/>
                <a:gd name="textAreaRight" fmla="*/ 250200 w 249840"/>
                <a:gd name="textAreaTop" fmla="*/ 0 h 249840"/>
                <a:gd name="textAreaBottom" fmla="*/ 250200 h 249840"/>
              </a:gdLst>
              <a:ahLst/>
              <a:cxnLst/>
              <a:rect l="textAreaLeft" t="textAreaTop" r="textAreaRight" b="textAreaBottom"/>
              <a:pathLst>
                <a:path w="148167" h="148167">
                  <a:moveTo>
                    <a:pt x="0" y="0"/>
                  </a:moveTo>
                  <a:lnTo>
                    <a:pt x="105834" y="0"/>
                  </a:lnTo>
                  <a:lnTo>
                    <a:pt x="105834" y="105834"/>
                  </a:lnTo>
                  <a:lnTo>
                    <a:pt x="0" y="105834"/>
                  </a:lnTo>
                  <a:close/>
                  <a:moveTo>
                    <a:pt x="42334" y="42334"/>
                  </a:moveTo>
                  <a:lnTo>
                    <a:pt x="148167" y="42334"/>
                  </a:lnTo>
                  <a:lnTo>
                    <a:pt x="148167" y="148167"/>
                  </a:lnTo>
                  <a:lnTo>
                    <a:pt x="42334" y="148167"/>
                  </a:lnTo>
                  <a:close/>
                </a:path>
              </a:pathLst>
            </a:custGeom>
            <a:solidFill>
              <a:srgbClr val="efad1b"/>
            </a:solidFill>
            <a:ln cap="sq" w="1524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20"/>
            <p:cNvSpPr/>
            <p:nvPr/>
          </p:nvSpPr>
          <p:spPr>
            <a:xfrm>
              <a:off x="10397160" y="5609880"/>
              <a:ext cx="428400" cy="49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1678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10452600" y="6180480"/>
            <a:ext cx="372960" cy="429120"/>
            <a:chOff x="10452600" y="6180480"/>
            <a:chExt cx="372960" cy="429120"/>
          </a:xfrm>
        </p:grpSpPr>
        <p:sp>
          <p:nvSpPr>
            <p:cNvPr id="121" name="Freeform 22"/>
            <p:cNvSpPr/>
            <p:nvPr/>
          </p:nvSpPr>
          <p:spPr>
            <a:xfrm>
              <a:off x="10514880" y="6298560"/>
              <a:ext cx="248400" cy="248400"/>
            </a:xfrm>
            <a:custGeom>
              <a:avLst/>
              <a:gdLst>
                <a:gd name="textAreaLeft" fmla="*/ 0 w 248400"/>
                <a:gd name="textAreaRight" fmla="*/ 248760 w 2484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169333" h="169333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close/>
                  <a:moveTo>
                    <a:pt x="105834" y="0"/>
                  </a:moveTo>
                  <a:lnTo>
                    <a:pt x="169334" y="0"/>
                  </a:lnTo>
                  <a:lnTo>
                    <a:pt x="169334" y="63500"/>
                  </a:lnTo>
                  <a:lnTo>
                    <a:pt x="105834" y="63500"/>
                  </a:lnTo>
                  <a:close/>
                  <a:moveTo>
                    <a:pt x="0" y="105834"/>
                  </a:moveTo>
                  <a:lnTo>
                    <a:pt x="63500" y="105834"/>
                  </a:lnTo>
                  <a:lnTo>
                    <a:pt x="63500" y="169334"/>
                  </a:lnTo>
                  <a:lnTo>
                    <a:pt x="0" y="169334"/>
                  </a:lnTo>
                  <a:close/>
                  <a:moveTo>
                    <a:pt x="105834" y="105834"/>
                  </a:moveTo>
                  <a:lnTo>
                    <a:pt x="169334" y="105834"/>
                  </a:lnTo>
                  <a:lnTo>
                    <a:pt x="169334" y="169334"/>
                  </a:lnTo>
                  <a:lnTo>
                    <a:pt x="105834" y="169334"/>
                  </a:lnTo>
                  <a:close/>
                </a:path>
              </a:pathLst>
            </a:custGeom>
            <a:solidFill>
              <a:srgbClr val="efad1b"/>
            </a:solidFill>
            <a:ln cap="sq" w="1524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TextBox 23"/>
            <p:cNvSpPr/>
            <p:nvPr/>
          </p:nvSpPr>
          <p:spPr>
            <a:xfrm>
              <a:off x="10452600" y="6180480"/>
              <a:ext cx="372960" cy="42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defTabSz="914400">
                <a:lnSpc>
                  <a:spcPts val="1678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3" name="Freeform 24"/>
          <p:cNvSpPr/>
          <p:nvPr/>
        </p:nvSpPr>
        <p:spPr>
          <a:xfrm>
            <a:off x="10431720" y="5244120"/>
            <a:ext cx="327960" cy="279720"/>
          </a:xfrm>
          <a:custGeom>
            <a:avLst/>
            <a:gdLst>
              <a:gd name="textAreaLeft" fmla="*/ 0 w 327960"/>
              <a:gd name="textAreaRight" fmla="*/ 328320 w 327960"/>
              <a:gd name="textAreaTop" fmla="*/ 0 h 279720"/>
              <a:gd name="textAreaBottom" fmla="*/ 280080 h 279720"/>
            </a:gdLst>
            <a:ahLst/>
            <a:cxnLst/>
            <a:rect l="textAreaLeft" t="textAreaTop" r="textAreaRight" b="textAreaBottom"/>
            <a:pathLst>
              <a:path w="328384" h="280221">
                <a:moveTo>
                  <a:pt x="0" y="0"/>
                </a:moveTo>
                <a:lnTo>
                  <a:pt x="328384" y="0"/>
                </a:lnTo>
                <a:lnTo>
                  <a:pt x="328384" y="280221"/>
                </a:lnTo>
                <a:lnTo>
                  <a:pt x="0" y="2802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Freeform 25"/>
          <p:cNvSpPr/>
          <p:nvPr/>
        </p:nvSpPr>
        <p:spPr>
          <a:xfrm>
            <a:off x="10383120" y="6924240"/>
            <a:ext cx="424800" cy="274680"/>
          </a:xfrm>
          <a:custGeom>
            <a:avLst/>
            <a:gdLst>
              <a:gd name="textAreaLeft" fmla="*/ 0 w 424800"/>
              <a:gd name="textAreaRight" fmla="*/ 425160 w 424800"/>
              <a:gd name="textAreaTop" fmla="*/ 0 h 274680"/>
              <a:gd name="textAreaBottom" fmla="*/ 275040 h 274680"/>
            </a:gdLst>
            <a:ahLst/>
            <a:cxnLst/>
            <a:rect l="textAreaLeft" t="textAreaTop" r="textAreaRight" b="textAreaBottom"/>
            <a:pathLst>
              <a:path w="425076" h="274883">
                <a:moveTo>
                  <a:pt x="0" y="0"/>
                </a:moveTo>
                <a:lnTo>
                  <a:pt x="425077" y="0"/>
                </a:lnTo>
                <a:lnTo>
                  <a:pt x="425077" y="274883"/>
                </a:lnTo>
                <a:lnTo>
                  <a:pt x="0" y="2748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Freeform 26"/>
          <p:cNvSpPr/>
          <p:nvPr/>
        </p:nvSpPr>
        <p:spPr>
          <a:xfrm>
            <a:off x="10403280" y="7655400"/>
            <a:ext cx="339480" cy="351360"/>
          </a:xfrm>
          <a:custGeom>
            <a:avLst/>
            <a:gdLst>
              <a:gd name="textAreaLeft" fmla="*/ 0 w 339480"/>
              <a:gd name="textAreaRight" fmla="*/ 339840 w 339480"/>
              <a:gd name="textAreaTop" fmla="*/ 0 h 351360"/>
              <a:gd name="textAreaBottom" fmla="*/ 351720 h 351360"/>
            </a:gdLst>
            <a:ahLst/>
            <a:cxnLst/>
            <a:rect l="textAreaLeft" t="textAreaTop" r="textAreaRight" b="textAreaBottom"/>
            <a:pathLst>
              <a:path w="339925" h="351647">
                <a:moveTo>
                  <a:pt x="0" y="0"/>
                </a:moveTo>
                <a:lnTo>
                  <a:pt x="339925" y="0"/>
                </a:lnTo>
                <a:lnTo>
                  <a:pt x="339925" y="351647"/>
                </a:lnTo>
                <a:lnTo>
                  <a:pt x="0" y="35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7"/>
          <p:cNvSpPr/>
          <p:nvPr/>
        </p:nvSpPr>
        <p:spPr>
          <a:xfrm>
            <a:off x="12377160" y="2776680"/>
            <a:ext cx="17229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55"/>
              </a:lnSpc>
            </a:pPr>
            <a:r>
              <a:rPr b="1" lang="en-US" sz="3209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FEATURES</a:t>
            </a:r>
            <a:endParaRPr b="0" lang="en-US" sz="320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28"/>
          <p:cNvGrpSpPr/>
          <p:nvPr/>
        </p:nvGrpSpPr>
        <p:grpSpPr>
          <a:xfrm>
            <a:off x="14018040" y="2650680"/>
            <a:ext cx="806760" cy="728640"/>
            <a:chOff x="14018040" y="2650680"/>
            <a:chExt cx="806760" cy="728640"/>
          </a:xfrm>
        </p:grpSpPr>
        <p:sp>
          <p:nvSpPr>
            <p:cNvPr id="128" name="Freeform 29"/>
            <p:cNvSpPr/>
            <p:nvPr/>
          </p:nvSpPr>
          <p:spPr>
            <a:xfrm>
              <a:off x="14018040" y="2650680"/>
              <a:ext cx="806760" cy="728640"/>
            </a:xfrm>
            <a:custGeom>
              <a:avLst/>
              <a:gdLst>
                <a:gd name="textAreaLeft" fmla="*/ 0 w 806760"/>
                <a:gd name="textAreaRight" fmla="*/ 807120 w 806760"/>
                <a:gd name="textAreaTop" fmla="*/ 0 h 728640"/>
                <a:gd name="textAreaBottom" fmla="*/ 729000 h 728640"/>
              </a:gdLst>
              <a:ahLst/>
              <a:cxnLst/>
              <a:rect l="textAreaLeft" t="textAreaTop" r="textAreaRight" b="textAreaBottom"/>
              <a:pathLst>
                <a:path w="719348" h="649723">
                  <a:moveTo>
                    <a:pt x="0" y="0"/>
                  </a:moveTo>
                  <a:lnTo>
                    <a:pt x="719348" y="0"/>
                  </a:lnTo>
                  <a:lnTo>
                    <a:pt x="719348" y="649723"/>
                  </a:lnTo>
                  <a:lnTo>
                    <a:pt x="0" y="649723"/>
                  </a:lnTo>
                  <a:close/>
                </a:path>
              </a:pathLst>
            </a:custGeom>
            <a:blipFill rotWithShape="0">
              <a:blip r:embed="rId9">
                <a:alphaModFix amt="39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TextBox 30"/>
          <p:cNvSpPr/>
          <p:nvPr/>
        </p:nvSpPr>
        <p:spPr>
          <a:xfrm>
            <a:off x="2163240" y="1093320"/>
            <a:ext cx="149616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b="1" lang="en-US" sz="450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SOLUTION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1"/>
          <p:cNvSpPr/>
          <p:nvPr/>
        </p:nvSpPr>
        <p:spPr>
          <a:xfrm>
            <a:off x="15950520" y="9589680"/>
            <a:ext cx="14169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621"/>
              </a:lnSpc>
            </a:pPr>
            <a:r>
              <a:rPr b="1" lang="en-US" sz="1350" strike="noStrike" u="none">
                <a:solidFill>
                  <a:srgbClr val="287c7b"/>
                </a:solidFill>
                <a:effectLst/>
                <a:uFillTx/>
                <a:latin typeface="Calibri (MS) Bold"/>
                <a:ea typeface="Calibri (MS) Bold"/>
              </a:rPr>
              <a:t>3 / 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2"/>
          <p:cNvSpPr/>
          <p:nvPr/>
        </p:nvSpPr>
        <p:spPr>
          <a:xfrm>
            <a:off x="1510560" y="3015720"/>
            <a:ext cx="5562000" cy="24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98"/>
              </a:lnSpc>
            </a:pPr>
            <a:r>
              <a:rPr b="1" lang="en-US" sz="317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A public portal where citizens submit issues, likely duplicates are linked instead of lost and every report is tracked from submission to resolution.</a:t>
            </a:r>
            <a:endParaRPr b="0" lang="en-US" sz="3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3"/>
          <p:cNvSpPr/>
          <p:nvPr/>
        </p:nvSpPr>
        <p:spPr>
          <a:xfrm>
            <a:off x="11033280" y="3524400"/>
            <a:ext cx="2687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Civic Issue Reporting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11033280" y="4057560"/>
            <a:ext cx="3498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Role-based Access Control 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5"/>
          <p:cNvSpPr/>
          <p:nvPr/>
        </p:nvSpPr>
        <p:spPr>
          <a:xfrm>
            <a:off x="11033280" y="4572000"/>
            <a:ext cx="39711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Public Feed with Map &amp; Filters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6"/>
          <p:cNvSpPr/>
          <p:nvPr/>
        </p:nvSpPr>
        <p:spPr>
          <a:xfrm>
            <a:off x="11033280" y="5086440"/>
            <a:ext cx="428292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Issue Lifecycle Tracking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7"/>
          <p:cNvSpPr/>
          <p:nvPr/>
        </p:nvSpPr>
        <p:spPr>
          <a:xfrm>
            <a:off x="11033280" y="5617080"/>
            <a:ext cx="3905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Real-time Duplicate Detection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8"/>
          <p:cNvSpPr/>
          <p:nvPr/>
        </p:nvSpPr>
        <p:spPr>
          <a:xfrm>
            <a:off x="11033280" y="6188400"/>
            <a:ext cx="24483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Officer  Dashboard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9"/>
          <p:cNvSpPr/>
          <p:nvPr/>
        </p:nvSpPr>
        <p:spPr>
          <a:xfrm>
            <a:off x="11033280" y="6760800"/>
            <a:ext cx="63043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Email verification and Updates at Every Resolution Stage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40"/>
          <p:cNvSpPr/>
          <p:nvPr/>
        </p:nvSpPr>
        <p:spPr>
          <a:xfrm>
            <a:off x="6708960" y="1833480"/>
            <a:ext cx="48693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77"/>
              </a:lnSpc>
            </a:pPr>
            <a:r>
              <a:rPr b="0" lang="en-US" sz="2730" strike="noStrike" u="sng">
                <a:solidFill>
                  <a:srgbClr val="0000ff"/>
                </a:solidFill>
                <a:effectLst/>
                <a:uFillTx/>
                <a:latin typeface="Calibri (MS)"/>
                <a:ea typeface="Calibri (MS)"/>
                <a:hlinkClick r:id="rId10"/>
              </a:rPr>
              <a:t>https://www.loksamadhan.online/</a:t>
            </a:r>
            <a:endParaRPr b="0" lang="en-US" sz="2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1"/>
          <p:cNvSpPr/>
          <p:nvPr/>
        </p:nvSpPr>
        <p:spPr>
          <a:xfrm>
            <a:off x="11033280" y="7598160"/>
            <a:ext cx="45111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9"/>
              </a:lnSpc>
            </a:pPr>
            <a:r>
              <a:rPr b="0" lang="en-US" sz="253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AI Powered Resolution Verification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" name="Group 3"/>
          <p:cNvGrpSpPr/>
          <p:nvPr/>
        </p:nvGrpSpPr>
        <p:grpSpPr>
          <a:xfrm>
            <a:off x="780840" y="2302920"/>
            <a:ext cx="8577720" cy="7774920"/>
            <a:chOff x="780840" y="2302920"/>
            <a:chExt cx="8577720" cy="7774920"/>
          </a:xfrm>
        </p:grpSpPr>
        <p:sp>
          <p:nvSpPr>
            <p:cNvPr id="143" name="Freeform 4"/>
            <p:cNvSpPr/>
            <p:nvPr/>
          </p:nvSpPr>
          <p:spPr>
            <a:xfrm>
              <a:off x="780840" y="2302920"/>
              <a:ext cx="8577720" cy="7774920"/>
            </a:xfrm>
            <a:custGeom>
              <a:avLst/>
              <a:gdLst>
                <a:gd name="textAreaLeft" fmla="*/ 0 w 8577720"/>
                <a:gd name="textAreaRight" fmla="*/ 8578080 w 8577720"/>
                <a:gd name="textAreaTop" fmla="*/ 0 h 7774920"/>
                <a:gd name="textAreaBottom" fmla="*/ 7775280 h 7774920"/>
              </a:gdLst>
              <a:ahLst/>
              <a:cxnLst/>
              <a:rect l="textAreaLeft" t="textAreaTop" r="textAreaRight" b="textAreaBottom"/>
              <a:pathLst>
                <a:path w="10706100" h="9704302">
                  <a:moveTo>
                    <a:pt x="0" y="187554"/>
                  </a:moveTo>
                  <a:cubicBezTo>
                    <a:pt x="0" y="83980"/>
                    <a:pt x="68580" y="0"/>
                    <a:pt x="153162" y="0"/>
                  </a:cubicBezTo>
                  <a:lnTo>
                    <a:pt x="10552938" y="0"/>
                  </a:lnTo>
                  <a:cubicBezTo>
                    <a:pt x="10637520" y="0"/>
                    <a:pt x="10706100" y="83980"/>
                    <a:pt x="10706100" y="187554"/>
                  </a:cubicBezTo>
                  <a:lnTo>
                    <a:pt x="10706100" y="9516748"/>
                  </a:lnTo>
                  <a:cubicBezTo>
                    <a:pt x="10706100" y="9620322"/>
                    <a:pt x="10637520" y="9704302"/>
                    <a:pt x="10552938" y="9704302"/>
                  </a:cubicBezTo>
                  <a:lnTo>
                    <a:pt x="153162" y="9704302"/>
                  </a:lnTo>
                  <a:cubicBezTo>
                    <a:pt x="68580" y="9704302"/>
                    <a:pt x="0" y="9620322"/>
                    <a:pt x="0" y="9516748"/>
                  </a:cubicBezTo>
                  <a:close/>
                </a:path>
              </a:pathLst>
            </a:custGeom>
            <a:solidFill>
              <a:srgbClr val="f2ecdf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" name="Group 5"/>
          <p:cNvGrpSpPr/>
          <p:nvPr/>
        </p:nvGrpSpPr>
        <p:grpSpPr>
          <a:xfrm>
            <a:off x="9615600" y="2302920"/>
            <a:ext cx="7937280" cy="7747920"/>
            <a:chOff x="9615600" y="2302920"/>
            <a:chExt cx="7937280" cy="7747920"/>
          </a:xfrm>
        </p:grpSpPr>
        <p:sp>
          <p:nvSpPr>
            <p:cNvPr id="145" name="Freeform 6"/>
            <p:cNvSpPr/>
            <p:nvPr/>
          </p:nvSpPr>
          <p:spPr>
            <a:xfrm>
              <a:off x="9615600" y="2302920"/>
              <a:ext cx="7937280" cy="7747920"/>
            </a:xfrm>
            <a:custGeom>
              <a:avLst/>
              <a:gdLst>
                <a:gd name="textAreaLeft" fmla="*/ 0 w 7937280"/>
                <a:gd name="textAreaRight" fmla="*/ 7937640 w 7937280"/>
                <a:gd name="textAreaTop" fmla="*/ 0 h 7747920"/>
                <a:gd name="textAreaBottom" fmla="*/ 7748280 h 7747920"/>
              </a:gdLst>
              <a:ahLst/>
              <a:cxnLst/>
              <a:rect l="textAreaLeft" t="textAreaTop" r="textAreaRight" b="textAreaBottom"/>
              <a:pathLst>
                <a:path w="9906000" h="9669619">
                  <a:moveTo>
                    <a:pt x="0" y="186884"/>
                  </a:moveTo>
                  <a:cubicBezTo>
                    <a:pt x="0" y="83679"/>
                    <a:pt x="68580" y="0"/>
                    <a:pt x="153162" y="0"/>
                  </a:cubicBezTo>
                  <a:lnTo>
                    <a:pt x="9752838" y="0"/>
                  </a:lnTo>
                  <a:cubicBezTo>
                    <a:pt x="9837420" y="0"/>
                    <a:pt x="9906000" y="83679"/>
                    <a:pt x="9906000" y="186884"/>
                  </a:cubicBezTo>
                  <a:lnTo>
                    <a:pt x="9906000" y="9482735"/>
                  </a:lnTo>
                  <a:cubicBezTo>
                    <a:pt x="9906000" y="9585939"/>
                    <a:pt x="9837420" y="9669619"/>
                    <a:pt x="9752838" y="9669619"/>
                  </a:cubicBezTo>
                  <a:lnTo>
                    <a:pt x="153162" y="9669619"/>
                  </a:lnTo>
                  <a:cubicBezTo>
                    <a:pt x="68580" y="9669619"/>
                    <a:pt x="0" y="9585939"/>
                    <a:pt x="0" y="9482735"/>
                  </a:cubicBezTo>
                  <a:close/>
                </a:path>
              </a:pathLst>
            </a:custGeom>
            <a:solidFill>
              <a:srgbClr val="e3aa2d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" name="Group 7"/>
          <p:cNvGrpSpPr/>
          <p:nvPr/>
        </p:nvGrpSpPr>
        <p:grpSpPr>
          <a:xfrm>
            <a:off x="10035360" y="3597120"/>
            <a:ext cx="5743080" cy="571320"/>
            <a:chOff x="10035360" y="3597120"/>
            <a:chExt cx="5743080" cy="571320"/>
          </a:xfrm>
        </p:grpSpPr>
        <p:sp>
          <p:nvSpPr>
            <p:cNvPr id="147" name="Freeform 8"/>
            <p:cNvSpPr/>
            <p:nvPr/>
          </p:nvSpPr>
          <p:spPr>
            <a:xfrm>
              <a:off x="10035360" y="3597120"/>
              <a:ext cx="5743080" cy="571320"/>
            </a:xfrm>
            <a:custGeom>
              <a:avLst/>
              <a:gdLst>
                <a:gd name="textAreaLeft" fmla="*/ 0 w 5743080"/>
                <a:gd name="textAreaRight" fmla="*/ 5743440 w 5743080"/>
                <a:gd name="textAreaTop" fmla="*/ 0 h 571320"/>
                <a:gd name="textAreaBottom" fmla="*/ 571680 h 571320"/>
              </a:gdLst>
              <a:ahLst/>
              <a:cxnLst/>
              <a:rect l="textAreaLeft" t="textAreaTop" r="textAreaRight" b="textAreaBottom"/>
              <a:pathLst>
                <a:path w="7658100" h="762000">
                  <a:moveTo>
                    <a:pt x="0" y="0"/>
                  </a:moveTo>
                  <a:lnTo>
                    <a:pt x="7658100" y="0"/>
                  </a:lnTo>
                  <a:lnTo>
                    <a:pt x="765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df7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" name="Group 9"/>
          <p:cNvGrpSpPr/>
          <p:nvPr/>
        </p:nvGrpSpPr>
        <p:grpSpPr>
          <a:xfrm>
            <a:off x="10424160" y="5870160"/>
            <a:ext cx="6103440" cy="1485000"/>
            <a:chOff x="10424160" y="5870160"/>
            <a:chExt cx="6103440" cy="1485000"/>
          </a:xfrm>
        </p:grpSpPr>
        <p:sp>
          <p:nvSpPr>
            <p:cNvPr id="149" name="Freeform 10"/>
            <p:cNvSpPr/>
            <p:nvPr/>
          </p:nvSpPr>
          <p:spPr>
            <a:xfrm>
              <a:off x="10424160" y="5870160"/>
              <a:ext cx="6103440" cy="1485000"/>
            </a:xfrm>
            <a:custGeom>
              <a:avLst/>
              <a:gdLst>
                <a:gd name="textAreaLeft" fmla="*/ 0 w 6103440"/>
                <a:gd name="textAreaRight" fmla="*/ 6103800 w 6103440"/>
                <a:gd name="textAreaTop" fmla="*/ 0 h 1485000"/>
                <a:gd name="textAreaBottom" fmla="*/ 1485360 h 1485000"/>
              </a:gdLst>
              <a:ahLst/>
              <a:cxnLst/>
              <a:rect l="textAreaLeft" t="textAreaTop" r="textAreaRight" b="textAreaBottom"/>
              <a:pathLst>
                <a:path w="1051199" h="255816">
                  <a:moveTo>
                    <a:pt x="0" y="0"/>
                  </a:moveTo>
                  <a:lnTo>
                    <a:pt x="1051199" y="0"/>
                  </a:lnTo>
                  <a:lnTo>
                    <a:pt x="1051199" y="255816"/>
                  </a:lnTo>
                  <a:lnTo>
                    <a:pt x="0" y="255816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11"/>
          <p:cNvGrpSpPr/>
          <p:nvPr/>
        </p:nvGrpSpPr>
        <p:grpSpPr>
          <a:xfrm>
            <a:off x="10552680" y="7920000"/>
            <a:ext cx="6105960" cy="1104840"/>
            <a:chOff x="10552680" y="7920000"/>
            <a:chExt cx="6105960" cy="1104840"/>
          </a:xfrm>
        </p:grpSpPr>
        <p:sp>
          <p:nvSpPr>
            <p:cNvPr id="151" name="Freeform 12"/>
            <p:cNvSpPr/>
            <p:nvPr/>
          </p:nvSpPr>
          <p:spPr>
            <a:xfrm>
              <a:off x="10552680" y="7920000"/>
              <a:ext cx="6105960" cy="1104840"/>
            </a:xfrm>
            <a:custGeom>
              <a:avLst/>
              <a:gdLst>
                <a:gd name="textAreaLeft" fmla="*/ 0 w 6105960"/>
                <a:gd name="textAreaRight" fmla="*/ 6106320 w 6105960"/>
                <a:gd name="textAreaTop" fmla="*/ 0 h 1104840"/>
                <a:gd name="textAreaBottom" fmla="*/ 1105200 h 1104840"/>
              </a:gdLst>
              <a:ahLst/>
              <a:cxnLst/>
              <a:rect l="textAreaLeft" t="textAreaTop" r="textAreaRight" b="textAreaBottom"/>
              <a:pathLst>
                <a:path w="1088232" h="196979">
                  <a:moveTo>
                    <a:pt x="0" y="0"/>
                  </a:moveTo>
                  <a:lnTo>
                    <a:pt x="1088232" y="0"/>
                  </a:lnTo>
                  <a:lnTo>
                    <a:pt x="1088232" y="196979"/>
                  </a:lnTo>
                  <a:lnTo>
                    <a:pt x="0" y="196979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Freeform 13"/>
          <p:cNvSpPr/>
          <p:nvPr/>
        </p:nvSpPr>
        <p:spPr>
          <a:xfrm rot="9356400">
            <a:off x="1272600" y="2682000"/>
            <a:ext cx="156960" cy="267840"/>
          </a:xfrm>
          <a:custGeom>
            <a:avLst/>
            <a:gdLst>
              <a:gd name="textAreaLeft" fmla="*/ 0 w 156960"/>
              <a:gd name="textAreaRight" fmla="*/ 157320 w 156960"/>
              <a:gd name="textAreaTop" fmla="*/ 0 h 267840"/>
              <a:gd name="textAreaBottom" fmla="*/ 268200 h 267840"/>
            </a:gdLst>
            <a:ahLst/>
            <a:cxnLst/>
            <a:rect l="textAreaLeft" t="textAreaTop" r="textAreaRight" b="textAreaBottom"/>
            <a:pathLst>
              <a:path w="157400" h="268295">
                <a:moveTo>
                  <a:pt x="0" y="0"/>
                </a:moveTo>
                <a:lnTo>
                  <a:pt x="157400" y="0"/>
                </a:lnTo>
                <a:lnTo>
                  <a:pt x="157400" y="268294"/>
                </a:lnTo>
                <a:lnTo>
                  <a:pt x="0" y="2682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2163240" y="1093320"/>
            <a:ext cx="149616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b="1" lang="en-US" sz="450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TECHNICAL IMPLEMENTATIONS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15950520" y="9589680"/>
            <a:ext cx="14169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621"/>
              </a:lnSpc>
            </a:pPr>
            <a:r>
              <a:rPr b="1" lang="en-US" sz="1350" strike="noStrike" u="none">
                <a:solidFill>
                  <a:srgbClr val="287c7b"/>
                </a:solidFill>
                <a:effectLst/>
                <a:uFillTx/>
                <a:latin typeface="Calibri (MS) Bold"/>
                <a:ea typeface="Calibri (MS) Bold"/>
              </a:rPr>
              <a:t>4 / 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6"/>
          <p:cNvSpPr/>
          <p:nvPr/>
        </p:nvSpPr>
        <p:spPr>
          <a:xfrm>
            <a:off x="1603800" y="2629080"/>
            <a:ext cx="6203160" cy="21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1" lang="en-US" sz="202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Frontend: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Core Framework: - React 19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Build Tool:- Vite 8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Styling &amp; Design System: - Tailwind CSS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Maps &amp; Geo-Visualization:- Leaflet 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7"/>
          <p:cNvSpPr/>
          <p:nvPr/>
        </p:nvSpPr>
        <p:spPr>
          <a:xfrm>
            <a:off x="1603800" y="4229640"/>
            <a:ext cx="62031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1" lang="en-US" sz="202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Backend: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Runtime: Node.js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Web Framework:- Express.js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Authentication &amp; Security- JWT, CORS, bcryptjs, OAuth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File Upload Processing: Multer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1477440" y="5875920"/>
            <a:ext cx="6203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1" lang="en-US" sz="202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Database: </a:t>
            </a: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MongoDB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9"/>
          <p:cNvSpPr/>
          <p:nvPr/>
        </p:nvSpPr>
        <p:spPr>
          <a:xfrm>
            <a:off x="1477440" y="6269760"/>
            <a:ext cx="69735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1" lang="en-US" sz="202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Main data flow:</a:t>
            </a: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 Citizen reports → Issue stored with location → Officer assigns &amp; updates → Public tracks status.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0"/>
          <p:cNvSpPr/>
          <p:nvPr/>
        </p:nvSpPr>
        <p:spPr>
          <a:xfrm>
            <a:off x="1477440" y="6965280"/>
            <a:ext cx="7501680" cy="27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29"/>
              </a:lnSpc>
            </a:pPr>
            <a:r>
              <a:rPr b="1" lang="en-US" sz="202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External API: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OpenStreetMap: Provides the interactive map tiles displayed 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Cloudinary: Stores uploaded issue photos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sng">
                <a:solidFill>
                  <a:srgbClr val="0000ff"/>
                </a:solidFill>
                <a:effectLst/>
                <a:uFillTx/>
                <a:latin typeface="Calibri (MS)"/>
                <a:ea typeface="Calibri (MS)"/>
                <a:hlinkClick r:id="rId6"/>
              </a:rPr>
              <a:t>MyMemory </a:t>
            </a: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&amp; </a:t>
            </a:r>
            <a:r>
              <a:rPr b="0" lang="en-US" sz="2020" strike="noStrike" u="sng">
                <a:solidFill>
                  <a:srgbClr val="0000ff"/>
                </a:solidFill>
                <a:effectLst/>
                <a:uFillTx/>
                <a:latin typeface="Calibri (MS)"/>
                <a:ea typeface="Calibri (MS)"/>
                <a:hlinkClick r:id="rId7"/>
              </a:rPr>
              <a:t>Google Cloud Translation A</a:t>
            </a: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PI: Traslation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Groq Cloud API: AI Vision &amp; LLM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Google OAuth 2.0 &amp; Identity APIs: Authentication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SMTP Email Service: Notifications &amp; OTP Verification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7040" indent="-218520" defTabSz="914400">
              <a:lnSpc>
                <a:spcPts val="2429"/>
              </a:lnSpc>
              <a:buClr>
                <a:srgbClr val="123c4b"/>
              </a:buClr>
              <a:buFont typeface="Arial"/>
              <a:buChar char="•"/>
            </a:pPr>
            <a:r>
              <a:rPr b="0" lang="en-US" sz="202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WhatsApp Click-to-Chat URL API:  share civic issues directly to WhatsApp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1"/>
          <p:cNvSpPr/>
          <p:nvPr/>
        </p:nvSpPr>
        <p:spPr>
          <a:xfrm>
            <a:off x="10035360" y="2749320"/>
            <a:ext cx="6103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b="1" lang="en-US" sz="293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CHALLENGE CARD</a:t>
            </a:r>
            <a:endParaRPr b="0" lang="en-US" sz="29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2"/>
          <p:cNvSpPr/>
          <p:nvPr/>
        </p:nvSpPr>
        <p:spPr>
          <a:xfrm>
            <a:off x="10135440" y="3620880"/>
            <a:ext cx="5960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0"/>
              </a:lnSpc>
            </a:pPr>
            <a:r>
              <a:rPr b="1" lang="en-US" sz="270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USEFUL FILTERS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3"/>
          <p:cNvSpPr/>
          <p:nvPr/>
        </p:nvSpPr>
        <p:spPr>
          <a:xfrm>
            <a:off x="10063440" y="4743360"/>
            <a:ext cx="6824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b="0" lang="en-US" sz="225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The public issues are filtered as per status, location, category and department in the feed.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Freeform 24"/>
          <p:cNvSpPr/>
          <p:nvPr/>
        </p:nvSpPr>
        <p:spPr>
          <a:xfrm rot="9356400">
            <a:off x="1272600" y="4288320"/>
            <a:ext cx="156960" cy="267840"/>
          </a:xfrm>
          <a:custGeom>
            <a:avLst/>
            <a:gdLst>
              <a:gd name="textAreaLeft" fmla="*/ 0 w 156960"/>
              <a:gd name="textAreaRight" fmla="*/ 157320 w 156960"/>
              <a:gd name="textAreaTop" fmla="*/ 0 h 267840"/>
              <a:gd name="textAreaBottom" fmla="*/ 268200 h 267840"/>
            </a:gdLst>
            <a:ahLst/>
            <a:cxnLst/>
            <a:rect l="textAreaLeft" t="textAreaTop" r="textAreaRight" b="textAreaBottom"/>
            <a:pathLst>
              <a:path w="157400" h="268295">
                <a:moveTo>
                  <a:pt x="0" y="0"/>
                </a:moveTo>
                <a:lnTo>
                  <a:pt x="157400" y="0"/>
                </a:lnTo>
                <a:lnTo>
                  <a:pt x="157400" y="268295"/>
                </a:lnTo>
                <a:lnTo>
                  <a:pt x="0" y="26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reeform 25"/>
          <p:cNvSpPr/>
          <p:nvPr/>
        </p:nvSpPr>
        <p:spPr>
          <a:xfrm rot="9356400">
            <a:off x="1145880" y="5902200"/>
            <a:ext cx="156960" cy="267840"/>
          </a:xfrm>
          <a:custGeom>
            <a:avLst/>
            <a:gdLst>
              <a:gd name="textAreaLeft" fmla="*/ 0 w 156960"/>
              <a:gd name="textAreaRight" fmla="*/ 157320 w 156960"/>
              <a:gd name="textAreaTop" fmla="*/ 0 h 267840"/>
              <a:gd name="textAreaBottom" fmla="*/ 268200 h 267840"/>
            </a:gdLst>
            <a:ahLst/>
            <a:cxnLst/>
            <a:rect l="textAreaLeft" t="textAreaTop" r="textAreaRight" b="textAreaBottom"/>
            <a:pathLst>
              <a:path w="157400" h="268295">
                <a:moveTo>
                  <a:pt x="0" y="0"/>
                </a:moveTo>
                <a:lnTo>
                  <a:pt x="157400" y="0"/>
                </a:lnTo>
                <a:lnTo>
                  <a:pt x="157400" y="268295"/>
                </a:lnTo>
                <a:lnTo>
                  <a:pt x="0" y="26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Freeform 26"/>
          <p:cNvSpPr/>
          <p:nvPr/>
        </p:nvSpPr>
        <p:spPr>
          <a:xfrm rot="9356400">
            <a:off x="1145880" y="6324480"/>
            <a:ext cx="156960" cy="267840"/>
          </a:xfrm>
          <a:custGeom>
            <a:avLst/>
            <a:gdLst>
              <a:gd name="textAreaLeft" fmla="*/ 0 w 156960"/>
              <a:gd name="textAreaRight" fmla="*/ 157320 w 156960"/>
              <a:gd name="textAreaTop" fmla="*/ 0 h 267840"/>
              <a:gd name="textAreaBottom" fmla="*/ 268200 h 267840"/>
            </a:gdLst>
            <a:ahLst/>
            <a:cxnLst/>
            <a:rect l="textAreaLeft" t="textAreaTop" r="textAreaRight" b="textAreaBottom"/>
            <a:pathLst>
              <a:path w="157400" h="268295">
                <a:moveTo>
                  <a:pt x="0" y="0"/>
                </a:moveTo>
                <a:lnTo>
                  <a:pt x="157400" y="0"/>
                </a:lnTo>
                <a:lnTo>
                  <a:pt x="157400" y="268295"/>
                </a:lnTo>
                <a:lnTo>
                  <a:pt x="0" y="26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Freeform 27"/>
          <p:cNvSpPr/>
          <p:nvPr/>
        </p:nvSpPr>
        <p:spPr>
          <a:xfrm rot="9356400">
            <a:off x="1145880" y="7023960"/>
            <a:ext cx="156960" cy="267840"/>
          </a:xfrm>
          <a:custGeom>
            <a:avLst/>
            <a:gdLst>
              <a:gd name="textAreaLeft" fmla="*/ 0 w 156960"/>
              <a:gd name="textAreaRight" fmla="*/ 157320 w 156960"/>
              <a:gd name="textAreaTop" fmla="*/ 0 h 267840"/>
              <a:gd name="textAreaBottom" fmla="*/ 268200 h 267840"/>
            </a:gdLst>
            <a:ahLst/>
            <a:cxnLst/>
            <a:rect l="textAreaLeft" t="textAreaTop" r="textAreaRight" b="textAreaBottom"/>
            <a:pathLst>
              <a:path w="157400" h="268295">
                <a:moveTo>
                  <a:pt x="0" y="0"/>
                </a:moveTo>
                <a:lnTo>
                  <a:pt x="157400" y="0"/>
                </a:lnTo>
                <a:lnTo>
                  <a:pt x="157400" y="268295"/>
                </a:lnTo>
                <a:lnTo>
                  <a:pt x="0" y="2682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3"/>
          <p:cNvGrpSpPr/>
          <p:nvPr/>
        </p:nvGrpSpPr>
        <p:grpSpPr>
          <a:xfrm>
            <a:off x="2260800" y="2680920"/>
            <a:ext cx="7243560" cy="5169600"/>
            <a:chOff x="2260800" y="2680920"/>
            <a:chExt cx="7243560" cy="5169600"/>
          </a:xfrm>
        </p:grpSpPr>
        <p:sp>
          <p:nvSpPr>
            <p:cNvPr id="169" name="Freeform 4"/>
            <p:cNvSpPr/>
            <p:nvPr/>
          </p:nvSpPr>
          <p:spPr>
            <a:xfrm>
              <a:off x="2260800" y="2680920"/>
              <a:ext cx="7243560" cy="5169600"/>
            </a:xfrm>
            <a:custGeom>
              <a:avLst/>
              <a:gdLst>
                <a:gd name="textAreaLeft" fmla="*/ 0 w 7243560"/>
                <a:gd name="textAreaRight" fmla="*/ 7243920 w 7243560"/>
                <a:gd name="textAreaTop" fmla="*/ 0 h 5169600"/>
                <a:gd name="textAreaBottom" fmla="*/ 5169960 h 5169600"/>
              </a:gdLst>
              <a:ahLst/>
              <a:cxnLst/>
              <a:rect l="textAreaLeft" t="textAreaTop" r="textAreaRight" b="textAreaBottom"/>
              <a:pathLst>
                <a:path w="9658731" h="6893433">
                  <a:moveTo>
                    <a:pt x="0" y="157607"/>
                  </a:moveTo>
                  <a:cubicBezTo>
                    <a:pt x="0" y="70612"/>
                    <a:pt x="70612" y="0"/>
                    <a:pt x="157607" y="0"/>
                  </a:cubicBezTo>
                  <a:lnTo>
                    <a:pt x="9501124" y="0"/>
                  </a:lnTo>
                  <a:cubicBezTo>
                    <a:pt x="9588119" y="0"/>
                    <a:pt x="9658731" y="70612"/>
                    <a:pt x="9658731" y="157607"/>
                  </a:cubicBezTo>
                  <a:lnTo>
                    <a:pt x="9658731" y="6735826"/>
                  </a:lnTo>
                  <a:cubicBezTo>
                    <a:pt x="9658731" y="6822821"/>
                    <a:pt x="9588119" y="6893433"/>
                    <a:pt x="9501124" y="6893433"/>
                  </a:cubicBezTo>
                  <a:lnTo>
                    <a:pt x="157607" y="6893433"/>
                  </a:lnTo>
                  <a:cubicBezTo>
                    <a:pt x="70612" y="6893306"/>
                    <a:pt x="0" y="6822821"/>
                    <a:pt x="0" y="6735826"/>
                  </a:cubicBezTo>
                  <a:close/>
                </a:path>
              </a:pathLst>
            </a:custGeom>
            <a:solidFill>
              <a:srgbClr val="e3aa2d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Group 5"/>
          <p:cNvGrpSpPr/>
          <p:nvPr/>
        </p:nvGrpSpPr>
        <p:grpSpPr>
          <a:xfrm>
            <a:off x="2535840" y="4705200"/>
            <a:ext cx="242640" cy="242640"/>
            <a:chOff x="2535840" y="4705200"/>
            <a:chExt cx="242640" cy="242640"/>
          </a:xfrm>
        </p:grpSpPr>
        <p:sp>
          <p:nvSpPr>
            <p:cNvPr id="171" name="Freeform 6"/>
            <p:cNvSpPr/>
            <p:nvPr/>
          </p:nvSpPr>
          <p:spPr>
            <a:xfrm>
              <a:off x="2535840" y="470520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8293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" name="Group 7"/>
          <p:cNvGrpSpPr/>
          <p:nvPr/>
        </p:nvGrpSpPr>
        <p:grpSpPr>
          <a:xfrm>
            <a:off x="2535840" y="6283800"/>
            <a:ext cx="242640" cy="242640"/>
            <a:chOff x="2535840" y="6283800"/>
            <a:chExt cx="242640" cy="242640"/>
          </a:xfrm>
        </p:grpSpPr>
        <p:sp>
          <p:nvSpPr>
            <p:cNvPr id="173" name="Freeform 8"/>
            <p:cNvSpPr/>
            <p:nvPr/>
          </p:nvSpPr>
          <p:spPr>
            <a:xfrm>
              <a:off x="2535840" y="628380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08293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" name="Group 9"/>
          <p:cNvGrpSpPr/>
          <p:nvPr/>
        </p:nvGrpSpPr>
        <p:grpSpPr>
          <a:xfrm>
            <a:off x="10447920" y="2678760"/>
            <a:ext cx="6368040" cy="5171760"/>
            <a:chOff x="10447920" y="2678760"/>
            <a:chExt cx="6368040" cy="5171760"/>
          </a:xfrm>
        </p:grpSpPr>
        <p:sp>
          <p:nvSpPr>
            <p:cNvPr id="175" name="Freeform 10"/>
            <p:cNvSpPr/>
            <p:nvPr/>
          </p:nvSpPr>
          <p:spPr>
            <a:xfrm>
              <a:off x="10447920" y="2678760"/>
              <a:ext cx="6368040" cy="517176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5171760"/>
                <a:gd name="textAreaBottom" fmla="*/ 5172120 h 5171760"/>
              </a:gdLst>
              <a:ahLst/>
              <a:cxnLst/>
              <a:rect l="textAreaLeft" t="textAreaTop" r="textAreaRight" b="textAreaBottom"/>
              <a:pathLst>
                <a:path w="8491347" h="6896100">
                  <a:moveTo>
                    <a:pt x="0" y="157607"/>
                  </a:moveTo>
                  <a:cubicBezTo>
                    <a:pt x="0" y="70612"/>
                    <a:pt x="70612" y="0"/>
                    <a:pt x="157607" y="0"/>
                  </a:cubicBezTo>
                  <a:lnTo>
                    <a:pt x="8333740" y="0"/>
                  </a:lnTo>
                  <a:cubicBezTo>
                    <a:pt x="8420862" y="0"/>
                    <a:pt x="8491347" y="70612"/>
                    <a:pt x="8491347" y="157607"/>
                  </a:cubicBezTo>
                  <a:lnTo>
                    <a:pt x="8491347" y="6738493"/>
                  </a:lnTo>
                  <a:cubicBezTo>
                    <a:pt x="8491347" y="6825615"/>
                    <a:pt x="8420735" y="6896100"/>
                    <a:pt x="8333740" y="6896100"/>
                  </a:cubicBezTo>
                  <a:lnTo>
                    <a:pt x="157607" y="6896100"/>
                  </a:lnTo>
                  <a:cubicBezTo>
                    <a:pt x="70612" y="6896100"/>
                    <a:pt x="0" y="6825488"/>
                    <a:pt x="0" y="6738493"/>
                  </a:cubicBezTo>
                  <a:close/>
                </a:path>
              </a:pathLst>
            </a:custGeom>
            <a:solidFill>
              <a:srgbClr val="b9cec3"/>
            </a:solidFill>
            <a:ln cap="sq" w="28575">
              <a:solidFill>
                <a:srgbClr val="0829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" name="Group 11"/>
          <p:cNvGrpSpPr/>
          <p:nvPr/>
        </p:nvGrpSpPr>
        <p:grpSpPr>
          <a:xfrm>
            <a:off x="11001240" y="4132080"/>
            <a:ext cx="242640" cy="242640"/>
            <a:chOff x="11001240" y="4132080"/>
            <a:chExt cx="242640" cy="242640"/>
          </a:xfrm>
        </p:grpSpPr>
        <p:sp>
          <p:nvSpPr>
            <p:cNvPr id="177" name="Freeform 12"/>
            <p:cNvSpPr/>
            <p:nvPr/>
          </p:nvSpPr>
          <p:spPr>
            <a:xfrm>
              <a:off x="11001240" y="413208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287c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Group 13"/>
          <p:cNvGrpSpPr/>
          <p:nvPr/>
        </p:nvGrpSpPr>
        <p:grpSpPr>
          <a:xfrm>
            <a:off x="11001240" y="5914800"/>
            <a:ext cx="242640" cy="242640"/>
            <a:chOff x="11001240" y="5914800"/>
            <a:chExt cx="242640" cy="242640"/>
          </a:xfrm>
        </p:grpSpPr>
        <p:sp>
          <p:nvSpPr>
            <p:cNvPr id="179" name="Freeform 14"/>
            <p:cNvSpPr/>
            <p:nvPr/>
          </p:nvSpPr>
          <p:spPr>
            <a:xfrm>
              <a:off x="11001240" y="5914800"/>
              <a:ext cx="242640" cy="24264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323850" h="323850">
                  <a:moveTo>
                    <a:pt x="0" y="0"/>
                  </a:moveTo>
                  <a:lnTo>
                    <a:pt x="323850" y="0"/>
                  </a:lnTo>
                  <a:lnTo>
                    <a:pt x="3238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287c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Freeform 15"/>
          <p:cNvSpPr/>
          <p:nvPr/>
        </p:nvSpPr>
        <p:spPr>
          <a:xfrm>
            <a:off x="15452280" y="4705200"/>
            <a:ext cx="1363680" cy="1209240"/>
          </a:xfrm>
          <a:custGeom>
            <a:avLst/>
            <a:gdLst>
              <a:gd name="textAreaLeft" fmla="*/ 0 w 1363680"/>
              <a:gd name="textAreaRight" fmla="*/ 1364040 w 1363680"/>
              <a:gd name="textAreaTop" fmla="*/ 0 h 1209240"/>
              <a:gd name="textAreaBottom" fmla="*/ 1209600 h 1209240"/>
            </a:gdLst>
            <a:ahLst/>
            <a:cxnLst/>
            <a:rect l="textAreaLeft" t="textAreaTop" r="textAreaRight" b="textAreaBottom"/>
            <a:pathLst>
              <a:path w="1364024" h="1209434">
                <a:moveTo>
                  <a:pt x="0" y="0"/>
                </a:moveTo>
                <a:lnTo>
                  <a:pt x="1364024" y="0"/>
                </a:lnTo>
                <a:lnTo>
                  <a:pt x="1364024" y="1209434"/>
                </a:lnTo>
                <a:lnTo>
                  <a:pt x="0" y="1209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  <a:alphaModFix amt="24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Freeform 16"/>
          <p:cNvSpPr/>
          <p:nvPr/>
        </p:nvSpPr>
        <p:spPr>
          <a:xfrm>
            <a:off x="10501200" y="6632280"/>
            <a:ext cx="1243080" cy="1218240"/>
          </a:xfrm>
          <a:custGeom>
            <a:avLst/>
            <a:gdLst>
              <a:gd name="textAreaLeft" fmla="*/ 0 w 1243080"/>
              <a:gd name="textAreaRight" fmla="*/ 1243440 w 1243080"/>
              <a:gd name="textAreaTop" fmla="*/ 0 h 1218240"/>
              <a:gd name="textAreaBottom" fmla="*/ 1218600 h 1218240"/>
            </a:gdLst>
            <a:ahLst/>
            <a:cxnLst/>
            <a:rect l="textAreaLeft" t="textAreaTop" r="textAreaRight" b="textAreaBottom"/>
            <a:pathLst>
              <a:path w="1243460" h="1218591">
                <a:moveTo>
                  <a:pt x="0" y="0"/>
                </a:moveTo>
                <a:lnTo>
                  <a:pt x="1243460" y="0"/>
                </a:lnTo>
                <a:lnTo>
                  <a:pt x="1243460" y="1218591"/>
                </a:lnTo>
                <a:lnTo>
                  <a:pt x="0" y="12185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  <a:alphaModFix amt="3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Freeform 17"/>
          <p:cNvSpPr/>
          <p:nvPr/>
        </p:nvSpPr>
        <p:spPr>
          <a:xfrm>
            <a:off x="4760280" y="5276160"/>
            <a:ext cx="1477080" cy="1507320"/>
          </a:xfrm>
          <a:custGeom>
            <a:avLst/>
            <a:gdLst>
              <a:gd name="textAreaLeft" fmla="*/ 0 w 1477080"/>
              <a:gd name="textAreaRight" fmla="*/ 1477440 w 1477080"/>
              <a:gd name="textAreaTop" fmla="*/ 0 h 1507320"/>
              <a:gd name="textAreaBottom" fmla="*/ 1507680 h 1507320"/>
            </a:gdLst>
            <a:ahLst/>
            <a:cxnLst/>
            <a:rect l="textAreaLeft" t="textAreaTop" r="textAreaRight" b="textAreaBottom"/>
            <a:pathLst>
              <a:path w="1477401" h="1507552">
                <a:moveTo>
                  <a:pt x="0" y="0"/>
                </a:moveTo>
                <a:lnTo>
                  <a:pt x="1477402" y="0"/>
                </a:lnTo>
                <a:lnTo>
                  <a:pt x="1477402" y="1507553"/>
                </a:lnTo>
                <a:lnTo>
                  <a:pt x="0" y="15075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  <a:alphaModFix amt="1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2163240" y="1093320"/>
            <a:ext cx="149616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b="1" lang="en-US" sz="450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Today’s Progress, Tomorrow’s Plan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9"/>
          <p:cNvSpPr/>
          <p:nvPr/>
        </p:nvSpPr>
        <p:spPr>
          <a:xfrm>
            <a:off x="15950520" y="9589680"/>
            <a:ext cx="14169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621"/>
              </a:lnSpc>
            </a:pPr>
            <a:r>
              <a:rPr b="1" lang="en-US" sz="1350" strike="noStrike" u="none">
                <a:solidFill>
                  <a:srgbClr val="287c7b"/>
                </a:solidFill>
                <a:effectLst/>
                <a:uFillTx/>
                <a:latin typeface="Calibri (MS) Bold"/>
                <a:ea typeface="Calibri (MS) Bold"/>
              </a:rPr>
              <a:t>5 / 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0"/>
          <p:cNvSpPr/>
          <p:nvPr/>
        </p:nvSpPr>
        <p:spPr>
          <a:xfrm>
            <a:off x="2385720" y="3209760"/>
            <a:ext cx="663660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033"/>
              </a:lnSpc>
            </a:pPr>
            <a:r>
              <a:rPr b="1" lang="en-US" sz="253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Designed to serve both citizens and public authorities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1"/>
          <p:cNvSpPr/>
          <p:nvPr/>
        </p:nvSpPr>
        <p:spPr>
          <a:xfrm>
            <a:off x="11064240" y="3097440"/>
            <a:ext cx="21214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304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LIMITATIONS</a:t>
            </a:r>
            <a:endParaRPr b="0" lang="en-US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2"/>
          <p:cNvSpPr/>
          <p:nvPr/>
        </p:nvSpPr>
        <p:spPr>
          <a:xfrm>
            <a:off x="11415960" y="3972240"/>
            <a:ext cx="524304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84"/>
              </a:lnSpc>
            </a:pPr>
            <a:r>
              <a:rPr b="0" lang="en-US" sz="223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No integration with actual municipal ERPs, GIS databases, or government grievance redressal portals</a:t>
            </a:r>
            <a:endParaRPr b="0" lang="en-US" sz="2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3"/>
          <p:cNvSpPr/>
          <p:nvPr/>
        </p:nvSpPr>
        <p:spPr>
          <a:xfrm>
            <a:off x="11383560" y="5736240"/>
            <a:ext cx="456696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84"/>
              </a:lnSpc>
            </a:pPr>
            <a:r>
              <a:rPr b="0" lang="en-US" sz="223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No phone/Aadhaar identity verification for citizens</a:t>
            </a:r>
            <a:endParaRPr b="0" lang="en-US" sz="2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84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4"/>
          <p:cNvSpPr/>
          <p:nvPr/>
        </p:nvSpPr>
        <p:spPr>
          <a:xfrm>
            <a:off x="7888320" y="8304840"/>
            <a:ext cx="553176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89"/>
              </a:lnSpc>
            </a:pPr>
            <a:r>
              <a:rPr b="1" lang="en-US" sz="3820" strike="noStrike" u="none">
                <a:solidFill>
                  <a:srgbClr val="082938"/>
                </a:solidFill>
                <a:effectLst/>
                <a:uFillTx/>
                <a:latin typeface="Calibri (MS) Bold"/>
                <a:ea typeface="Calibri (MS) Bold"/>
              </a:rPr>
              <a:t>THANK YOU</a:t>
            </a:r>
            <a:endParaRPr b="0" lang="en-US" sz="3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5"/>
          <p:cNvSpPr/>
          <p:nvPr/>
        </p:nvSpPr>
        <p:spPr>
          <a:xfrm>
            <a:off x="3007440" y="4552920"/>
            <a:ext cx="601488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4"/>
              </a:lnSpc>
            </a:pPr>
            <a:r>
              <a:rPr b="1" lang="en-US" sz="243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Enforced Public-Safe Data Serialization: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4"/>
              </a:lnSpc>
            </a:pPr>
            <a:r>
              <a:rPr b="0" lang="en-US" sz="243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Citizen personal information is never included in public API responses.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6"/>
          <p:cNvSpPr/>
          <p:nvPr/>
        </p:nvSpPr>
        <p:spPr>
          <a:xfrm>
            <a:off x="3007440" y="6193440"/>
            <a:ext cx="636480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14"/>
              </a:lnSpc>
            </a:pPr>
            <a:r>
              <a:rPr b="1" lang="en-US" sz="2430" strike="noStrike" u="none">
                <a:solidFill>
                  <a:srgbClr val="123c4b"/>
                </a:solidFill>
                <a:effectLst/>
                <a:uFillTx/>
                <a:latin typeface="Calibri (MS) Bold"/>
                <a:ea typeface="Calibri (MS) Bold"/>
              </a:rPr>
              <a:t>Resolution requires a note or evidence: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14"/>
              </a:lnSpc>
            </a:pPr>
            <a:r>
              <a:rPr b="0" lang="en-US" sz="2430" strike="noStrike" u="none">
                <a:solidFill>
                  <a:srgbClr val="123c4b"/>
                </a:solidFill>
                <a:effectLst/>
                <a:uFillTx/>
                <a:latin typeface="Calibri (MS)"/>
                <a:ea typeface="Calibri (MS)"/>
              </a:rPr>
              <a:t> An officer cannot mark an issue as Resolved without documenting how it was resolved.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LibreOffice_project/54047653041915e595ad4e45cccea684809c77b5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DAHUS_IN1uc</dc:identifier>
  <dc:language>en-US</dc:language>
  <cp:lastModifiedBy/>
  <dcterms:modified xsi:type="dcterms:W3CDTF">2026-09-06T10:40:59Z</dcterms:modified>
  <cp:revision>2</cp:revision>
  <dc:subject/>
  <dc:title>TEZHACK_WEB_last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